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78" r:id="rId2"/>
    <p:sldId id="275" r:id="rId3"/>
    <p:sldId id="264" r:id="rId4"/>
    <p:sldId id="276" r:id="rId5"/>
    <p:sldId id="268" r:id="rId6"/>
    <p:sldId id="279" r:id="rId7"/>
    <p:sldId id="289" r:id="rId8"/>
    <p:sldId id="290" r:id="rId9"/>
    <p:sldId id="291" r:id="rId10"/>
    <p:sldId id="292" r:id="rId11"/>
    <p:sldId id="293" r:id="rId12"/>
    <p:sldId id="294" r:id="rId13"/>
    <p:sldId id="295" r:id="rId14"/>
    <p:sldId id="296" r:id="rId15"/>
    <p:sldId id="288" r:id="rId16"/>
    <p:sldId id="297" r:id="rId17"/>
    <p:sldId id="281" r:id="rId18"/>
    <p:sldId id="298" r:id="rId19"/>
    <p:sldId id="282" r:id="rId20"/>
    <p:sldId id="299" r:id="rId21"/>
    <p:sldId id="300" r:id="rId22"/>
    <p:sldId id="283" r:id="rId23"/>
    <p:sldId id="301" r:id="rId24"/>
    <p:sldId id="302" r:id="rId25"/>
    <p:sldId id="284" r:id="rId26"/>
    <p:sldId id="303" r:id="rId27"/>
    <p:sldId id="304" r:id="rId28"/>
    <p:sldId id="305" r:id="rId29"/>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39">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jqaEJF3Jv29g/oR/va8+a7sQBm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B8155-ABD2-4667-B4B9-56F9E961975F}" v="5" dt="2026-10-28T07:02:45.564"/>
  </p1510:revLst>
</p1510:revInfo>
</file>

<file path=ppt/tableStyles.xml><?xml version="1.0" encoding="utf-8"?>
<a:tblStyleLst xmlns:a="http://schemas.openxmlformats.org/drawingml/2006/main" def="{491DBE5D-E312-4B21-9E5E-1AE7C8B9E3E7}">
  <a:tblStyle styleId="{491DBE5D-E312-4B21-9E5E-1AE7C8B9E3E7}"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dk1">
              <a:alpha val="20000"/>
            </a:schemeClr>
          </a:solidFill>
        </a:fill>
      </a:tcStyle>
    </a:band1H>
    <a:band2H>
      <a:tcTxStyle b="off" i="off"/>
      <a:tcStyle>
        <a:tcBdr/>
      </a:tcStyle>
    </a:band2H>
    <a:band1V>
      <a:tcTxStyle b="off" i="off"/>
      <a:tcStyle>
        <a:tcBdr/>
        <a:fill>
          <a:solidFill>
            <a:schemeClr val="dk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25400" cap="flat" cmpd="sng">
              <a:solidFill>
                <a:schemeClr val="dk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84" d="100"/>
          <a:sy n="84" d="100"/>
        </p:scale>
        <p:origin x="408" y="72"/>
      </p:cViewPr>
      <p:guideLst>
        <p:guide orient="horz" pos="2939"/>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hika K" userId="65dc1e962506cd42" providerId="LiveId" clId="{30A984F3-0740-4713-8A05-E152C7B13214}"/>
    <pc:docChg chg="undo custSel delSld modSld">
      <pc:chgData name="Rithika K" userId="65dc1e962506cd42" providerId="LiveId" clId="{30A984F3-0740-4713-8A05-E152C7B13214}" dt="2026-10-28T07:12:33.346" v="292" actId="478"/>
      <pc:docMkLst>
        <pc:docMk/>
      </pc:docMkLst>
      <pc:sldChg chg="del">
        <pc:chgData name="Rithika K" userId="65dc1e962506cd42" providerId="LiveId" clId="{30A984F3-0740-4713-8A05-E152C7B13214}" dt="2026-10-28T06:54:28.702" v="0" actId="2696"/>
        <pc:sldMkLst>
          <pc:docMk/>
          <pc:sldMk cId="0" sldId="256"/>
        </pc:sldMkLst>
      </pc:sldChg>
      <pc:sldChg chg="del">
        <pc:chgData name="Rithika K" userId="65dc1e962506cd42" providerId="LiveId" clId="{30A984F3-0740-4713-8A05-E152C7B13214}" dt="2026-10-28T06:54:30.586" v="2" actId="47"/>
        <pc:sldMkLst>
          <pc:docMk/>
          <pc:sldMk cId="0" sldId="259"/>
        </pc:sldMkLst>
      </pc:sldChg>
      <pc:sldChg chg="delSp mod">
        <pc:chgData name="Rithika K" userId="65dc1e962506cd42" providerId="LiveId" clId="{30A984F3-0740-4713-8A05-E152C7B13214}" dt="2026-10-28T07:11:09.946" v="261" actId="478"/>
        <pc:sldMkLst>
          <pc:docMk/>
          <pc:sldMk cId="0" sldId="264"/>
        </pc:sldMkLst>
        <pc:spChg chg="del">
          <ac:chgData name="Rithika K" userId="65dc1e962506cd42" providerId="LiveId" clId="{30A984F3-0740-4713-8A05-E152C7B13214}" dt="2026-10-28T07:11:09.946" v="261" actId="478"/>
          <ac:spMkLst>
            <pc:docMk/>
            <pc:sldMk cId="0" sldId="264"/>
            <ac:spMk id="107" creationId="{00000000-0000-0000-0000-000000000000}"/>
          </ac:spMkLst>
        </pc:spChg>
      </pc:sldChg>
      <pc:sldChg chg="del">
        <pc:chgData name="Rithika K" userId="65dc1e962506cd42" providerId="LiveId" clId="{30A984F3-0740-4713-8A05-E152C7B13214}" dt="2026-10-28T06:54:37.443" v="3" actId="47"/>
        <pc:sldMkLst>
          <pc:docMk/>
          <pc:sldMk cId="0" sldId="266"/>
        </pc:sldMkLst>
      </pc:sldChg>
      <pc:sldChg chg="delSp modSp mod">
        <pc:chgData name="Rithika K" userId="65dc1e962506cd42" providerId="LiveId" clId="{30A984F3-0740-4713-8A05-E152C7B13214}" dt="2026-10-28T07:11:20.640" v="263" actId="478"/>
        <pc:sldMkLst>
          <pc:docMk/>
          <pc:sldMk cId="1730517700" sldId="268"/>
        </pc:sldMkLst>
        <pc:spChg chg="mod">
          <ac:chgData name="Rithika K" userId="65dc1e962506cd42" providerId="LiveId" clId="{30A984F3-0740-4713-8A05-E152C7B13214}" dt="2026-10-28T06:56:19.176" v="14" actId="120"/>
          <ac:spMkLst>
            <pc:docMk/>
            <pc:sldMk cId="1730517700" sldId="268"/>
            <ac:spMk id="3" creationId="{E2949ABA-6BBF-2B5A-30B2-0CEDE1AFD009}"/>
          </ac:spMkLst>
        </pc:spChg>
        <pc:spChg chg="mod">
          <ac:chgData name="Rithika K" userId="65dc1e962506cd42" providerId="LiveId" clId="{30A984F3-0740-4713-8A05-E152C7B13214}" dt="2026-10-28T06:56:35.379" v="17" actId="1036"/>
          <ac:spMkLst>
            <pc:docMk/>
            <pc:sldMk cId="1730517700" sldId="268"/>
            <ac:spMk id="106" creationId="{00000000-0000-0000-0000-000000000000}"/>
          </ac:spMkLst>
        </pc:spChg>
        <pc:spChg chg="del">
          <ac:chgData name="Rithika K" userId="65dc1e962506cd42" providerId="LiveId" clId="{30A984F3-0740-4713-8A05-E152C7B13214}" dt="2026-10-28T07:11:20.640" v="263" actId="478"/>
          <ac:spMkLst>
            <pc:docMk/>
            <pc:sldMk cId="1730517700" sldId="268"/>
            <ac:spMk id="107" creationId="{00000000-0000-0000-0000-000000000000}"/>
          </ac:spMkLst>
        </pc:spChg>
      </pc:sldChg>
      <pc:sldChg chg="delSp modSp mod">
        <pc:chgData name="Rithika K" userId="65dc1e962506cd42" providerId="LiveId" clId="{30A984F3-0740-4713-8A05-E152C7B13214}" dt="2026-10-28T07:11:08.153" v="260" actId="478"/>
        <pc:sldMkLst>
          <pc:docMk/>
          <pc:sldMk cId="1548877780" sldId="275"/>
        </pc:sldMkLst>
        <pc:spChg chg="mod">
          <ac:chgData name="Rithika K" userId="65dc1e962506cd42" providerId="LiveId" clId="{30A984F3-0740-4713-8A05-E152C7B13214}" dt="2026-10-28T07:00:13.823" v="63" actId="20577"/>
          <ac:spMkLst>
            <pc:docMk/>
            <pc:sldMk cId="1548877780" sldId="275"/>
            <ac:spMk id="5" creationId="{00000000-0000-0000-0000-000000000000}"/>
          </ac:spMkLst>
        </pc:spChg>
        <pc:spChg chg="mod">
          <ac:chgData name="Rithika K" userId="65dc1e962506cd42" providerId="LiveId" clId="{30A984F3-0740-4713-8A05-E152C7B13214}" dt="2026-10-28T06:59:53.704" v="53" actId="1076"/>
          <ac:spMkLst>
            <pc:docMk/>
            <pc:sldMk cId="1548877780" sldId="275"/>
            <ac:spMk id="73" creationId="{00000000-0000-0000-0000-000000000000}"/>
          </ac:spMkLst>
        </pc:spChg>
        <pc:spChg chg="del">
          <ac:chgData name="Rithika K" userId="65dc1e962506cd42" providerId="LiveId" clId="{30A984F3-0740-4713-8A05-E152C7B13214}" dt="2026-10-28T07:11:08.153" v="260" actId="478"/>
          <ac:spMkLst>
            <pc:docMk/>
            <pc:sldMk cId="1548877780" sldId="275"/>
            <ac:spMk id="74" creationId="{00000000-0000-0000-0000-000000000000}"/>
          </ac:spMkLst>
        </pc:spChg>
        <pc:picChg chg="mod">
          <ac:chgData name="Rithika K" userId="65dc1e962506cd42" providerId="LiveId" clId="{30A984F3-0740-4713-8A05-E152C7B13214}" dt="2026-10-28T07:00:22.954" v="65" actId="14100"/>
          <ac:picMkLst>
            <pc:docMk/>
            <pc:sldMk cId="1548877780" sldId="275"/>
            <ac:picMk id="3" creationId="{6EF34097-8BF7-B715-537C-0EB989F4C790}"/>
          </ac:picMkLst>
        </pc:picChg>
      </pc:sldChg>
      <pc:sldChg chg="delSp mod">
        <pc:chgData name="Rithika K" userId="65dc1e962506cd42" providerId="LiveId" clId="{30A984F3-0740-4713-8A05-E152C7B13214}" dt="2026-10-28T07:11:16.407" v="262" actId="478"/>
        <pc:sldMkLst>
          <pc:docMk/>
          <pc:sldMk cId="3552874733" sldId="276"/>
        </pc:sldMkLst>
        <pc:spChg chg="del">
          <ac:chgData name="Rithika K" userId="65dc1e962506cd42" providerId="LiveId" clId="{30A984F3-0740-4713-8A05-E152C7B13214}" dt="2026-10-28T07:11:16.407" v="262" actId="478"/>
          <ac:spMkLst>
            <pc:docMk/>
            <pc:sldMk cId="3552874733" sldId="276"/>
            <ac:spMk id="107" creationId="{00000000-0000-0000-0000-000000000000}"/>
          </ac:spMkLst>
        </pc:spChg>
      </pc:sldChg>
      <pc:sldChg chg="delSp modSp mod">
        <pc:chgData name="Rithika K" userId="65dc1e962506cd42" providerId="LiveId" clId="{30A984F3-0740-4713-8A05-E152C7B13214}" dt="2026-10-28T07:11:04.050" v="259" actId="478"/>
        <pc:sldMkLst>
          <pc:docMk/>
          <pc:sldMk cId="3889984771" sldId="278"/>
        </pc:sldMkLst>
        <pc:spChg chg="del mod">
          <ac:chgData name="Rithika K" userId="65dc1e962506cd42" providerId="LiveId" clId="{30A984F3-0740-4713-8A05-E152C7B13214}" dt="2026-10-28T07:11:04.050" v="259" actId="478"/>
          <ac:spMkLst>
            <pc:docMk/>
            <pc:sldMk cId="3889984771" sldId="278"/>
            <ac:spMk id="3" creationId="{C2E4218A-6690-9BF5-4CA8-1BF6CDE0156B}"/>
          </ac:spMkLst>
        </pc:spChg>
      </pc:sldChg>
      <pc:sldChg chg="addSp delSp modSp mod">
        <pc:chgData name="Rithika K" userId="65dc1e962506cd42" providerId="LiveId" clId="{30A984F3-0740-4713-8A05-E152C7B13214}" dt="2026-10-28T07:11:24.845" v="264" actId="478"/>
        <pc:sldMkLst>
          <pc:docMk/>
          <pc:sldMk cId="4000660438" sldId="279"/>
        </pc:sldMkLst>
        <pc:spChg chg="mod">
          <ac:chgData name="Rithika K" userId="65dc1e962506cd42" providerId="LiveId" clId="{30A984F3-0740-4713-8A05-E152C7B13214}" dt="2026-10-28T06:56:40.562" v="19" actId="1036"/>
          <ac:spMkLst>
            <pc:docMk/>
            <pc:sldMk cId="4000660438" sldId="279"/>
            <ac:spMk id="2" creationId="{5A3AA1CA-6B53-E381-38C8-C9A673DF0CA7}"/>
          </ac:spMkLst>
        </pc:spChg>
        <pc:spChg chg="del">
          <ac:chgData name="Rithika K" userId="65dc1e962506cd42" providerId="LiveId" clId="{30A984F3-0740-4713-8A05-E152C7B13214}" dt="2026-10-28T07:11:24.845" v="264" actId="478"/>
          <ac:spMkLst>
            <pc:docMk/>
            <pc:sldMk cId="4000660438" sldId="279"/>
            <ac:spMk id="3" creationId="{873CF445-F0B6-3226-0A64-6C434FA9E895}"/>
          </ac:spMkLst>
        </pc:spChg>
        <pc:spChg chg="add mod">
          <ac:chgData name="Rithika K" userId="65dc1e962506cd42" providerId="LiveId" clId="{30A984F3-0740-4713-8A05-E152C7B13214}" dt="2026-10-28T06:56:48.461" v="20" actId="1076"/>
          <ac:spMkLst>
            <pc:docMk/>
            <pc:sldMk cId="4000660438" sldId="279"/>
            <ac:spMk id="4" creationId="{7CC9033C-A70F-74A0-F0AA-CEEA6F240C11}"/>
          </ac:spMkLst>
        </pc:spChg>
      </pc:sldChg>
      <pc:sldChg chg="del">
        <pc:chgData name="Rithika K" userId="65dc1e962506cd42" providerId="LiveId" clId="{30A984F3-0740-4713-8A05-E152C7B13214}" dt="2026-10-28T06:54:29.959" v="1" actId="47"/>
        <pc:sldMkLst>
          <pc:docMk/>
          <pc:sldMk cId="3168730758" sldId="280"/>
        </pc:sldMkLst>
      </pc:sldChg>
      <pc:sldChg chg="delSp modSp mod">
        <pc:chgData name="Rithika K" userId="65dc1e962506cd42" providerId="LiveId" clId="{30A984F3-0740-4713-8A05-E152C7B13214}" dt="2026-10-28T07:11:58.722" v="277" actId="478"/>
        <pc:sldMkLst>
          <pc:docMk/>
          <pc:sldMk cId="2638153973" sldId="281"/>
        </pc:sldMkLst>
        <pc:spChg chg="mod">
          <ac:chgData name="Rithika K" userId="65dc1e962506cd42" providerId="LiveId" clId="{30A984F3-0740-4713-8A05-E152C7B13214}" dt="2026-10-28T07:04:26.969" v="135" actId="20577"/>
          <ac:spMkLst>
            <pc:docMk/>
            <pc:sldMk cId="2638153973" sldId="281"/>
            <ac:spMk id="2" creationId="{9D80412D-8B1F-0605-938E-3E83B43D1B8F}"/>
          </ac:spMkLst>
        </pc:spChg>
        <pc:spChg chg="del">
          <ac:chgData name="Rithika K" userId="65dc1e962506cd42" providerId="LiveId" clId="{30A984F3-0740-4713-8A05-E152C7B13214}" dt="2026-10-28T07:11:58.722" v="277" actId="478"/>
          <ac:spMkLst>
            <pc:docMk/>
            <pc:sldMk cId="2638153973" sldId="281"/>
            <ac:spMk id="3" creationId="{7875BFBE-2A9C-55DD-91BD-B03CC42BDD39}"/>
          </ac:spMkLst>
        </pc:spChg>
        <pc:picChg chg="mod">
          <ac:chgData name="Rithika K" userId="65dc1e962506cd42" providerId="LiveId" clId="{30A984F3-0740-4713-8A05-E152C7B13214}" dt="2026-10-28T07:04:32.746" v="137" actId="14100"/>
          <ac:picMkLst>
            <pc:docMk/>
            <pc:sldMk cId="2638153973" sldId="281"/>
            <ac:picMk id="5" creationId="{204F4D10-4743-36DB-A34E-6ED77AEF7F8B}"/>
          </ac:picMkLst>
        </pc:picChg>
      </pc:sldChg>
      <pc:sldChg chg="delSp modSp mod">
        <pc:chgData name="Rithika K" userId="65dc1e962506cd42" providerId="LiveId" clId="{30A984F3-0740-4713-8A05-E152C7B13214}" dt="2026-10-28T07:12:02.480" v="280" actId="478"/>
        <pc:sldMkLst>
          <pc:docMk/>
          <pc:sldMk cId="1839170055" sldId="282"/>
        </pc:sldMkLst>
        <pc:spChg chg="mod">
          <ac:chgData name="Rithika K" userId="65dc1e962506cd42" providerId="LiveId" clId="{30A984F3-0740-4713-8A05-E152C7B13214}" dt="2026-10-28T07:05:59.010" v="165" actId="255"/>
          <ac:spMkLst>
            <pc:docMk/>
            <pc:sldMk cId="1839170055" sldId="282"/>
            <ac:spMk id="2" creationId="{B3A0FE76-CAFE-15B3-AA18-9D2B39F2775B}"/>
          </ac:spMkLst>
        </pc:spChg>
        <pc:spChg chg="del">
          <ac:chgData name="Rithika K" userId="65dc1e962506cd42" providerId="LiveId" clId="{30A984F3-0740-4713-8A05-E152C7B13214}" dt="2026-10-28T07:12:02.480" v="280" actId="478"/>
          <ac:spMkLst>
            <pc:docMk/>
            <pc:sldMk cId="1839170055" sldId="282"/>
            <ac:spMk id="3" creationId="{B5E43746-92AA-B7EC-7CC1-2639D2AFA046}"/>
          </ac:spMkLst>
        </pc:spChg>
        <pc:picChg chg="mod">
          <ac:chgData name="Rithika K" userId="65dc1e962506cd42" providerId="LiveId" clId="{30A984F3-0740-4713-8A05-E152C7B13214}" dt="2026-10-28T07:05:21.613" v="147" actId="14100"/>
          <ac:picMkLst>
            <pc:docMk/>
            <pc:sldMk cId="1839170055" sldId="282"/>
            <ac:picMk id="6" creationId="{B5B0C9E9-C24E-508C-06F8-69F4A209AFEA}"/>
          </ac:picMkLst>
        </pc:picChg>
      </pc:sldChg>
      <pc:sldChg chg="delSp modSp mod">
        <pc:chgData name="Rithika K" userId="65dc1e962506cd42" providerId="LiveId" clId="{30A984F3-0740-4713-8A05-E152C7B13214}" dt="2026-10-28T07:12:09.744" v="283" actId="478"/>
        <pc:sldMkLst>
          <pc:docMk/>
          <pc:sldMk cId="3910961779" sldId="283"/>
        </pc:sldMkLst>
        <pc:spChg chg="del">
          <ac:chgData name="Rithika K" userId="65dc1e962506cd42" providerId="LiveId" clId="{30A984F3-0740-4713-8A05-E152C7B13214}" dt="2026-10-28T07:12:09.744" v="283" actId="478"/>
          <ac:spMkLst>
            <pc:docMk/>
            <pc:sldMk cId="3910961779" sldId="283"/>
            <ac:spMk id="3" creationId="{55BD604D-D75E-9895-27F0-87E5F85B9B15}"/>
          </ac:spMkLst>
        </pc:spChg>
        <pc:spChg chg="mod">
          <ac:chgData name="Rithika K" userId="65dc1e962506cd42" providerId="LiveId" clId="{30A984F3-0740-4713-8A05-E152C7B13214}" dt="2026-10-28T07:07:26.626" v="195" actId="20577"/>
          <ac:spMkLst>
            <pc:docMk/>
            <pc:sldMk cId="3910961779" sldId="283"/>
            <ac:spMk id="4" creationId="{9DCE3955-7D6F-2A9B-384B-B69DCCEF5BD5}"/>
          </ac:spMkLst>
        </pc:spChg>
        <pc:picChg chg="mod">
          <ac:chgData name="Rithika K" userId="65dc1e962506cd42" providerId="LiveId" clId="{30A984F3-0740-4713-8A05-E152C7B13214}" dt="2026-10-28T07:07:31.405" v="197" actId="1076"/>
          <ac:picMkLst>
            <pc:docMk/>
            <pc:sldMk cId="3910961779" sldId="283"/>
            <ac:picMk id="6" creationId="{383EA80D-FC16-005D-117A-E5C0DC83FED7}"/>
          </ac:picMkLst>
        </pc:picChg>
      </pc:sldChg>
      <pc:sldChg chg="delSp modSp mod">
        <pc:chgData name="Rithika K" userId="65dc1e962506cd42" providerId="LiveId" clId="{30A984F3-0740-4713-8A05-E152C7B13214}" dt="2026-10-28T07:12:19.329" v="287" actId="478"/>
        <pc:sldMkLst>
          <pc:docMk/>
          <pc:sldMk cId="1750823773" sldId="284"/>
        </pc:sldMkLst>
        <pc:spChg chg="del mod">
          <ac:chgData name="Rithika K" userId="65dc1e962506cd42" providerId="LiveId" clId="{30A984F3-0740-4713-8A05-E152C7B13214}" dt="2026-10-28T07:12:19.329" v="287" actId="478"/>
          <ac:spMkLst>
            <pc:docMk/>
            <pc:sldMk cId="1750823773" sldId="284"/>
            <ac:spMk id="3" creationId="{636BB558-B238-AF2D-E5E7-CC10F5D448E0}"/>
          </ac:spMkLst>
        </pc:spChg>
        <pc:spChg chg="mod">
          <ac:chgData name="Rithika K" userId="65dc1e962506cd42" providerId="LiveId" clId="{30A984F3-0740-4713-8A05-E152C7B13214}" dt="2026-10-28T07:09:18.861" v="240" actId="1076"/>
          <ac:spMkLst>
            <pc:docMk/>
            <pc:sldMk cId="1750823773" sldId="284"/>
            <ac:spMk id="4" creationId="{CFC8B457-F900-323D-EC8F-3167F90C4CFF}"/>
          </ac:spMkLst>
        </pc:spChg>
      </pc:sldChg>
      <pc:sldChg chg="delSp modSp mod">
        <pc:chgData name="Rithika K" userId="65dc1e962506cd42" providerId="LiveId" clId="{30A984F3-0740-4713-8A05-E152C7B13214}" dt="2026-10-28T07:11:54.010" v="275" actId="478"/>
        <pc:sldMkLst>
          <pc:docMk/>
          <pc:sldMk cId="1477537701" sldId="288"/>
        </pc:sldMkLst>
        <pc:spChg chg="del">
          <ac:chgData name="Rithika K" userId="65dc1e962506cd42" providerId="LiveId" clId="{30A984F3-0740-4713-8A05-E152C7B13214}" dt="2026-10-28T07:11:54.010" v="275" actId="478"/>
          <ac:spMkLst>
            <pc:docMk/>
            <pc:sldMk cId="1477537701" sldId="288"/>
            <ac:spMk id="3" creationId="{3C7FA356-9BF2-7340-BCC9-1518FE826478}"/>
          </ac:spMkLst>
        </pc:spChg>
        <pc:spChg chg="mod">
          <ac:chgData name="Rithika K" userId="65dc1e962506cd42" providerId="LiveId" clId="{30A984F3-0740-4713-8A05-E152C7B13214}" dt="2026-10-28T07:03:22.074" v="112" actId="20577"/>
          <ac:spMkLst>
            <pc:docMk/>
            <pc:sldMk cId="1477537701" sldId="288"/>
            <ac:spMk id="4" creationId="{68635F31-038C-AF90-4C70-21D50BF6032E}"/>
          </ac:spMkLst>
        </pc:spChg>
        <pc:picChg chg="mod">
          <ac:chgData name="Rithika K" userId="65dc1e962506cd42" providerId="LiveId" clId="{30A984F3-0740-4713-8A05-E152C7B13214}" dt="2026-10-28T07:03:26.730" v="114" actId="14100"/>
          <ac:picMkLst>
            <pc:docMk/>
            <pc:sldMk cId="1477537701" sldId="288"/>
            <ac:picMk id="5" creationId="{E3C6BF69-2B75-7E3C-2884-E1ED82E2E022}"/>
          </ac:picMkLst>
        </pc:picChg>
      </pc:sldChg>
      <pc:sldChg chg="delSp modSp mod">
        <pc:chgData name="Rithika K" userId="65dc1e962506cd42" providerId="LiveId" clId="{30A984F3-0740-4713-8A05-E152C7B13214}" dt="2026-10-28T07:11:32.936" v="266" actId="478"/>
        <pc:sldMkLst>
          <pc:docMk/>
          <pc:sldMk cId="2654152925" sldId="289"/>
        </pc:sldMkLst>
        <pc:spChg chg="mod">
          <ac:chgData name="Rithika K" userId="65dc1e962506cd42" providerId="LiveId" clId="{30A984F3-0740-4713-8A05-E152C7B13214}" dt="2026-10-28T06:57:40.342" v="28" actId="5793"/>
          <ac:spMkLst>
            <pc:docMk/>
            <pc:sldMk cId="2654152925" sldId="289"/>
            <ac:spMk id="2" creationId="{1D54B44E-1E27-27B2-A4C6-94D5FF64615A}"/>
          </ac:spMkLst>
        </pc:spChg>
        <pc:spChg chg="del mod">
          <ac:chgData name="Rithika K" userId="65dc1e962506cd42" providerId="LiveId" clId="{30A984F3-0740-4713-8A05-E152C7B13214}" dt="2026-10-28T07:11:32.936" v="266" actId="478"/>
          <ac:spMkLst>
            <pc:docMk/>
            <pc:sldMk cId="2654152925" sldId="289"/>
            <ac:spMk id="3" creationId="{F31026DE-B465-388E-6116-6E605033CBEE}"/>
          </ac:spMkLst>
        </pc:spChg>
      </pc:sldChg>
      <pc:sldChg chg="delSp modSp mod">
        <pc:chgData name="Rithika K" userId="65dc1e962506cd42" providerId="LiveId" clId="{30A984F3-0740-4713-8A05-E152C7B13214}" dt="2026-10-28T07:11:36.785" v="268" actId="478"/>
        <pc:sldMkLst>
          <pc:docMk/>
          <pc:sldMk cId="745593204" sldId="290"/>
        </pc:sldMkLst>
        <pc:spChg chg="mod">
          <ac:chgData name="Rithika K" userId="65dc1e962506cd42" providerId="LiveId" clId="{30A984F3-0740-4713-8A05-E152C7B13214}" dt="2026-10-28T07:01:44.095" v="80" actId="113"/>
          <ac:spMkLst>
            <pc:docMk/>
            <pc:sldMk cId="745593204" sldId="290"/>
            <ac:spMk id="2" creationId="{1D39D3BD-15DF-2C33-2E13-FB7058534151}"/>
          </ac:spMkLst>
        </pc:spChg>
        <pc:spChg chg="del mod">
          <ac:chgData name="Rithika K" userId="65dc1e962506cd42" providerId="LiveId" clId="{30A984F3-0740-4713-8A05-E152C7B13214}" dt="2026-10-28T07:11:36.785" v="268" actId="478"/>
          <ac:spMkLst>
            <pc:docMk/>
            <pc:sldMk cId="745593204" sldId="290"/>
            <ac:spMk id="3" creationId="{2927E517-B1D8-2FCB-839C-AA09680C46AA}"/>
          </ac:spMkLst>
        </pc:spChg>
      </pc:sldChg>
      <pc:sldChg chg="delSp modSp mod">
        <pc:chgData name="Rithika K" userId="65dc1e962506cd42" providerId="LiveId" clId="{30A984F3-0740-4713-8A05-E152C7B13214}" dt="2026-10-28T07:11:39.059" v="269" actId="478"/>
        <pc:sldMkLst>
          <pc:docMk/>
          <pc:sldMk cId="4005141607" sldId="291"/>
        </pc:sldMkLst>
        <pc:spChg chg="mod">
          <ac:chgData name="Rithika K" userId="65dc1e962506cd42" providerId="LiveId" clId="{30A984F3-0740-4713-8A05-E152C7B13214}" dt="2026-10-28T07:01:50.677" v="82" actId="113"/>
          <ac:spMkLst>
            <pc:docMk/>
            <pc:sldMk cId="4005141607" sldId="291"/>
            <ac:spMk id="2" creationId="{FC3ED16C-28D1-9804-055A-8637465509B5}"/>
          </ac:spMkLst>
        </pc:spChg>
        <pc:spChg chg="del">
          <ac:chgData name="Rithika K" userId="65dc1e962506cd42" providerId="LiveId" clId="{30A984F3-0740-4713-8A05-E152C7B13214}" dt="2026-10-28T07:11:39.059" v="269" actId="478"/>
          <ac:spMkLst>
            <pc:docMk/>
            <pc:sldMk cId="4005141607" sldId="291"/>
            <ac:spMk id="3" creationId="{D0030C6C-1673-C718-4904-E9766C63FEC2}"/>
          </ac:spMkLst>
        </pc:spChg>
        <pc:picChg chg="mod">
          <ac:chgData name="Rithika K" userId="65dc1e962506cd42" providerId="LiveId" clId="{30A984F3-0740-4713-8A05-E152C7B13214}" dt="2026-10-28T07:00:56.185" v="68" actId="1076"/>
          <ac:picMkLst>
            <pc:docMk/>
            <pc:sldMk cId="4005141607" sldId="291"/>
            <ac:picMk id="4" creationId="{BCA4A8B4-5EAA-F779-3F53-C99649E7D81C}"/>
          </ac:picMkLst>
        </pc:picChg>
      </pc:sldChg>
      <pc:sldChg chg="addSp delSp modSp mod">
        <pc:chgData name="Rithika K" userId="65dc1e962506cd42" providerId="LiveId" clId="{30A984F3-0740-4713-8A05-E152C7B13214}" dt="2026-10-28T07:11:41.528" v="270" actId="478"/>
        <pc:sldMkLst>
          <pc:docMk/>
          <pc:sldMk cId="3700014575" sldId="292"/>
        </pc:sldMkLst>
        <pc:spChg chg="mod">
          <ac:chgData name="Rithika K" userId="65dc1e962506cd42" providerId="LiveId" clId="{30A984F3-0740-4713-8A05-E152C7B13214}" dt="2026-10-28T07:02:01.680" v="86" actId="113"/>
          <ac:spMkLst>
            <pc:docMk/>
            <pc:sldMk cId="3700014575" sldId="292"/>
            <ac:spMk id="2" creationId="{05EB34E2-DA34-D5C3-E817-FAAAE7A57ABB}"/>
          </ac:spMkLst>
        </pc:spChg>
        <pc:spChg chg="del">
          <ac:chgData name="Rithika K" userId="65dc1e962506cd42" providerId="LiveId" clId="{30A984F3-0740-4713-8A05-E152C7B13214}" dt="2026-10-28T07:11:41.528" v="270" actId="478"/>
          <ac:spMkLst>
            <pc:docMk/>
            <pc:sldMk cId="3700014575" sldId="292"/>
            <ac:spMk id="3" creationId="{700D512E-4F32-2B61-D44E-FAA4E89E7904}"/>
          </ac:spMkLst>
        </pc:spChg>
        <pc:spChg chg="add mod">
          <ac:chgData name="Rithika K" userId="65dc1e962506cd42" providerId="LiveId" clId="{30A984F3-0740-4713-8A05-E152C7B13214}" dt="2026-10-28T07:01:58.257" v="84"/>
          <ac:spMkLst>
            <pc:docMk/>
            <pc:sldMk cId="3700014575" sldId="292"/>
            <ac:spMk id="5" creationId="{D8C208F1-3C55-C699-3CE8-302185C2619B}"/>
          </ac:spMkLst>
        </pc:spChg>
        <pc:picChg chg="mod">
          <ac:chgData name="Rithika K" userId="65dc1e962506cd42" providerId="LiveId" clId="{30A984F3-0740-4713-8A05-E152C7B13214}" dt="2026-10-28T07:01:03.472" v="71" actId="1036"/>
          <ac:picMkLst>
            <pc:docMk/>
            <pc:sldMk cId="3700014575" sldId="292"/>
            <ac:picMk id="4" creationId="{8FA1AD29-DDB6-CA66-2C48-CF9471FA8F8C}"/>
          </ac:picMkLst>
        </pc:picChg>
      </pc:sldChg>
      <pc:sldChg chg="delSp modSp mod">
        <pc:chgData name="Rithika K" userId="65dc1e962506cd42" providerId="LiveId" clId="{30A984F3-0740-4713-8A05-E152C7B13214}" dt="2026-10-28T07:11:43.991" v="271" actId="478"/>
        <pc:sldMkLst>
          <pc:docMk/>
          <pc:sldMk cId="719776914" sldId="293"/>
        </pc:sldMkLst>
        <pc:spChg chg="mod">
          <ac:chgData name="Rithika K" userId="65dc1e962506cd42" providerId="LiveId" clId="{30A984F3-0740-4713-8A05-E152C7B13214}" dt="2026-10-28T07:02:08.553" v="88" actId="113"/>
          <ac:spMkLst>
            <pc:docMk/>
            <pc:sldMk cId="719776914" sldId="293"/>
            <ac:spMk id="2" creationId="{32FBC9D6-0793-0F0A-56C0-012F9DBE6A3B}"/>
          </ac:spMkLst>
        </pc:spChg>
        <pc:spChg chg="del">
          <ac:chgData name="Rithika K" userId="65dc1e962506cd42" providerId="LiveId" clId="{30A984F3-0740-4713-8A05-E152C7B13214}" dt="2026-10-28T07:11:43.991" v="271" actId="478"/>
          <ac:spMkLst>
            <pc:docMk/>
            <pc:sldMk cId="719776914" sldId="293"/>
            <ac:spMk id="3" creationId="{39A7969D-806A-1DA4-1455-C2E848E61041}"/>
          </ac:spMkLst>
        </pc:spChg>
        <pc:picChg chg="mod">
          <ac:chgData name="Rithika K" userId="65dc1e962506cd42" providerId="LiveId" clId="{30A984F3-0740-4713-8A05-E152C7B13214}" dt="2026-10-28T06:58:20.516" v="39" actId="14100"/>
          <ac:picMkLst>
            <pc:docMk/>
            <pc:sldMk cId="719776914" sldId="293"/>
            <ac:picMk id="4" creationId="{5AD2AD04-7D50-6E4B-FF8A-5E29ED215014}"/>
          </ac:picMkLst>
        </pc:picChg>
      </pc:sldChg>
      <pc:sldChg chg="delSp modSp mod">
        <pc:chgData name="Rithika K" userId="65dc1e962506cd42" providerId="LiveId" clId="{30A984F3-0740-4713-8A05-E152C7B13214}" dt="2026-10-28T07:11:46.409" v="272" actId="478"/>
        <pc:sldMkLst>
          <pc:docMk/>
          <pc:sldMk cId="2401675243" sldId="294"/>
        </pc:sldMkLst>
        <pc:spChg chg="mod">
          <ac:chgData name="Rithika K" userId="65dc1e962506cd42" providerId="LiveId" clId="{30A984F3-0740-4713-8A05-E152C7B13214}" dt="2026-10-28T07:02:15.118" v="90" actId="113"/>
          <ac:spMkLst>
            <pc:docMk/>
            <pc:sldMk cId="2401675243" sldId="294"/>
            <ac:spMk id="2" creationId="{852D2B56-B0BD-8A9A-AF99-F0CF5346E5FB}"/>
          </ac:spMkLst>
        </pc:spChg>
        <pc:spChg chg="del">
          <ac:chgData name="Rithika K" userId="65dc1e962506cd42" providerId="LiveId" clId="{30A984F3-0740-4713-8A05-E152C7B13214}" dt="2026-10-28T07:11:46.409" v="272" actId="478"/>
          <ac:spMkLst>
            <pc:docMk/>
            <pc:sldMk cId="2401675243" sldId="294"/>
            <ac:spMk id="3" creationId="{166379C6-027B-13FD-1A34-80E9D8AC6D87}"/>
          </ac:spMkLst>
        </pc:spChg>
        <pc:picChg chg="mod">
          <ac:chgData name="Rithika K" userId="65dc1e962506cd42" providerId="LiveId" clId="{30A984F3-0740-4713-8A05-E152C7B13214}" dt="2026-10-28T06:58:28.705" v="42" actId="14100"/>
          <ac:picMkLst>
            <pc:docMk/>
            <pc:sldMk cId="2401675243" sldId="294"/>
            <ac:picMk id="4" creationId="{FAD22F34-EE4A-18AF-1B01-2D9A1FAE541A}"/>
          </ac:picMkLst>
        </pc:picChg>
      </pc:sldChg>
      <pc:sldChg chg="delSp modSp mod">
        <pc:chgData name="Rithika K" userId="65dc1e962506cd42" providerId="LiveId" clId="{30A984F3-0740-4713-8A05-E152C7B13214}" dt="2026-10-28T07:11:50.961" v="274" actId="478"/>
        <pc:sldMkLst>
          <pc:docMk/>
          <pc:sldMk cId="174468911" sldId="295"/>
        </pc:sldMkLst>
        <pc:spChg chg="mod">
          <ac:chgData name="Rithika K" userId="65dc1e962506cd42" providerId="LiveId" clId="{30A984F3-0740-4713-8A05-E152C7B13214}" dt="2026-10-28T07:02:24.314" v="94" actId="20577"/>
          <ac:spMkLst>
            <pc:docMk/>
            <pc:sldMk cId="174468911" sldId="295"/>
            <ac:spMk id="2" creationId="{F574C993-2555-05C5-9C0B-1C7F6A359ACC}"/>
          </ac:spMkLst>
        </pc:spChg>
        <pc:spChg chg="del">
          <ac:chgData name="Rithika K" userId="65dc1e962506cd42" providerId="LiveId" clId="{30A984F3-0740-4713-8A05-E152C7B13214}" dt="2026-10-28T07:11:50.961" v="274" actId="478"/>
          <ac:spMkLst>
            <pc:docMk/>
            <pc:sldMk cId="174468911" sldId="295"/>
            <ac:spMk id="3" creationId="{29596A59-741A-6C51-66B0-3E4E51E23EDC}"/>
          </ac:spMkLst>
        </pc:spChg>
        <pc:picChg chg="mod">
          <ac:chgData name="Rithika K" userId="65dc1e962506cd42" providerId="LiveId" clId="{30A984F3-0740-4713-8A05-E152C7B13214}" dt="2026-10-28T07:02:28.049" v="95" actId="14100"/>
          <ac:picMkLst>
            <pc:docMk/>
            <pc:sldMk cId="174468911" sldId="295"/>
            <ac:picMk id="4" creationId="{B2A33B0A-EEFF-A91A-6809-B724816DB2C1}"/>
          </ac:picMkLst>
        </pc:picChg>
      </pc:sldChg>
      <pc:sldChg chg="delSp modSp mod">
        <pc:chgData name="Rithika K" userId="65dc1e962506cd42" providerId="LiveId" clId="{30A984F3-0740-4713-8A05-E152C7B13214}" dt="2026-10-28T07:11:48.996" v="273" actId="478"/>
        <pc:sldMkLst>
          <pc:docMk/>
          <pc:sldMk cId="2139927561" sldId="296"/>
        </pc:sldMkLst>
        <pc:spChg chg="mod">
          <ac:chgData name="Rithika K" userId="65dc1e962506cd42" providerId="LiveId" clId="{30A984F3-0740-4713-8A05-E152C7B13214}" dt="2026-10-28T07:02:54.625" v="106" actId="123"/>
          <ac:spMkLst>
            <pc:docMk/>
            <pc:sldMk cId="2139927561" sldId="296"/>
            <ac:spMk id="2" creationId="{E8B9BB4A-ED27-7DDC-9A35-8836294CA2D2}"/>
          </ac:spMkLst>
        </pc:spChg>
        <pc:spChg chg="del">
          <ac:chgData name="Rithika K" userId="65dc1e962506cd42" providerId="LiveId" clId="{30A984F3-0740-4713-8A05-E152C7B13214}" dt="2026-10-28T07:11:48.996" v="273" actId="478"/>
          <ac:spMkLst>
            <pc:docMk/>
            <pc:sldMk cId="2139927561" sldId="296"/>
            <ac:spMk id="3" creationId="{61A44E50-7B11-5E87-7295-2D05BC283485}"/>
          </ac:spMkLst>
        </pc:spChg>
        <pc:picChg chg="mod">
          <ac:chgData name="Rithika K" userId="65dc1e962506cd42" providerId="LiveId" clId="{30A984F3-0740-4713-8A05-E152C7B13214}" dt="2026-10-28T07:02:34.796" v="98" actId="1076"/>
          <ac:picMkLst>
            <pc:docMk/>
            <pc:sldMk cId="2139927561" sldId="296"/>
            <ac:picMk id="4" creationId="{1B119124-C370-EEB9-89AE-AA70BF090BFA}"/>
          </ac:picMkLst>
        </pc:picChg>
      </pc:sldChg>
      <pc:sldChg chg="delSp modSp mod">
        <pc:chgData name="Rithika K" userId="65dc1e962506cd42" providerId="LiveId" clId="{30A984F3-0740-4713-8A05-E152C7B13214}" dt="2026-10-28T07:11:56.009" v="276" actId="478"/>
        <pc:sldMkLst>
          <pc:docMk/>
          <pc:sldMk cId="3195385707" sldId="297"/>
        </pc:sldMkLst>
        <pc:spChg chg="mod">
          <ac:chgData name="Rithika K" userId="65dc1e962506cd42" providerId="LiveId" clId="{30A984F3-0740-4713-8A05-E152C7B13214}" dt="2026-10-28T07:03:46.042" v="121" actId="1036"/>
          <ac:spMkLst>
            <pc:docMk/>
            <pc:sldMk cId="3195385707" sldId="297"/>
            <ac:spMk id="2" creationId="{D63E81C7-C39F-0B7A-7F43-F742B58D8D5D}"/>
          </ac:spMkLst>
        </pc:spChg>
        <pc:spChg chg="del">
          <ac:chgData name="Rithika K" userId="65dc1e962506cd42" providerId="LiveId" clId="{30A984F3-0740-4713-8A05-E152C7B13214}" dt="2026-10-28T07:11:56.009" v="276" actId="478"/>
          <ac:spMkLst>
            <pc:docMk/>
            <pc:sldMk cId="3195385707" sldId="297"/>
            <ac:spMk id="3" creationId="{2371BEB8-4F27-EF9A-1BDC-1635231DB280}"/>
          </ac:spMkLst>
        </pc:spChg>
        <pc:picChg chg="mod">
          <ac:chgData name="Rithika K" userId="65dc1e962506cd42" providerId="LiveId" clId="{30A984F3-0740-4713-8A05-E152C7B13214}" dt="2026-10-28T07:03:44.956" v="120" actId="14100"/>
          <ac:picMkLst>
            <pc:docMk/>
            <pc:sldMk cId="3195385707" sldId="297"/>
            <ac:picMk id="4" creationId="{D0E984B8-27F2-8979-AF2B-0FA4465B7D59}"/>
          </ac:picMkLst>
        </pc:picChg>
      </pc:sldChg>
      <pc:sldChg chg="delSp modSp mod">
        <pc:chgData name="Rithika K" userId="65dc1e962506cd42" providerId="LiveId" clId="{30A984F3-0740-4713-8A05-E152C7B13214}" dt="2026-10-28T07:12:00.758" v="279" actId="478"/>
        <pc:sldMkLst>
          <pc:docMk/>
          <pc:sldMk cId="3036693352" sldId="298"/>
        </pc:sldMkLst>
        <pc:spChg chg="mod">
          <ac:chgData name="Rithika K" userId="65dc1e962506cd42" providerId="LiveId" clId="{30A984F3-0740-4713-8A05-E152C7B13214}" dt="2026-10-28T07:04:52.624" v="143" actId="313"/>
          <ac:spMkLst>
            <pc:docMk/>
            <pc:sldMk cId="3036693352" sldId="298"/>
            <ac:spMk id="2" creationId="{7D137737-DE64-7E7D-8703-AD4B4C4DC694}"/>
          </ac:spMkLst>
        </pc:spChg>
        <pc:spChg chg="del mod">
          <ac:chgData name="Rithika K" userId="65dc1e962506cd42" providerId="LiveId" clId="{30A984F3-0740-4713-8A05-E152C7B13214}" dt="2026-10-28T07:12:00.758" v="279" actId="478"/>
          <ac:spMkLst>
            <pc:docMk/>
            <pc:sldMk cId="3036693352" sldId="298"/>
            <ac:spMk id="3" creationId="{88D9AD27-3C36-3055-1CEB-3B88A099117B}"/>
          </ac:spMkLst>
        </pc:spChg>
        <pc:picChg chg="mod">
          <ac:chgData name="Rithika K" userId="65dc1e962506cd42" providerId="LiveId" clId="{30A984F3-0740-4713-8A05-E152C7B13214}" dt="2026-10-28T07:04:57.751" v="145" actId="14100"/>
          <ac:picMkLst>
            <pc:docMk/>
            <pc:sldMk cId="3036693352" sldId="298"/>
            <ac:picMk id="4" creationId="{7D5CE540-3B55-4417-AB3A-43C9FBCF024A}"/>
          </ac:picMkLst>
        </pc:picChg>
      </pc:sldChg>
      <pc:sldChg chg="delSp modSp mod">
        <pc:chgData name="Rithika K" userId="65dc1e962506cd42" providerId="LiveId" clId="{30A984F3-0740-4713-8A05-E152C7B13214}" dt="2026-10-28T07:12:05.322" v="281" actId="478"/>
        <pc:sldMkLst>
          <pc:docMk/>
          <pc:sldMk cId="2770777065" sldId="299"/>
        </pc:sldMkLst>
        <pc:spChg chg="mod">
          <ac:chgData name="Rithika K" userId="65dc1e962506cd42" providerId="LiveId" clId="{30A984F3-0740-4713-8A05-E152C7B13214}" dt="2026-10-28T07:06:21.185" v="173" actId="113"/>
          <ac:spMkLst>
            <pc:docMk/>
            <pc:sldMk cId="2770777065" sldId="299"/>
            <ac:spMk id="2" creationId="{D7D3B229-17FF-FBDD-E71B-2D4A597AB1EE}"/>
          </ac:spMkLst>
        </pc:spChg>
        <pc:spChg chg="del">
          <ac:chgData name="Rithika K" userId="65dc1e962506cd42" providerId="LiveId" clId="{30A984F3-0740-4713-8A05-E152C7B13214}" dt="2026-10-28T07:12:05.322" v="281" actId="478"/>
          <ac:spMkLst>
            <pc:docMk/>
            <pc:sldMk cId="2770777065" sldId="299"/>
            <ac:spMk id="3" creationId="{C5A78ABA-93A6-6AE0-34D3-9892A48F9796}"/>
          </ac:spMkLst>
        </pc:spChg>
        <pc:picChg chg="mod">
          <ac:chgData name="Rithika K" userId="65dc1e962506cd42" providerId="LiveId" clId="{30A984F3-0740-4713-8A05-E152C7B13214}" dt="2026-10-28T07:06:28.646" v="176" actId="1076"/>
          <ac:picMkLst>
            <pc:docMk/>
            <pc:sldMk cId="2770777065" sldId="299"/>
            <ac:picMk id="4" creationId="{D24D4723-3C04-E463-5CFD-C8BF4A1DB464}"/>
          </ac:picMkLst>
        </pc:picChg>
      </pc:sldChg>
      <pc:sldChg chg="delSp modSp mod">
        <pc:chgData name="Rithika K" userId="65dc1e962506cd42" providerId="LiveId" clId="{30A984F3-0740-4713-8A05-E152C7B13214}" dt="2026-10-28T07:12:07.545" v="282" actId="478"/>
        <pc:sldMkLst>
          <pc:docMk/>
          <pc:sldMk cId="3360536989" sldId="300"/>
        </pc:sldMkLst>
        <pc:spChg chg="mod">
          <ac:chgData name="Rithika K" userId="65dc1e962506cd42" providerId="LiveId" clId="{30A984F3-0740-4713-8A05-E152C7B13214}" dt="2026-10-28T07:06:50.540" v="185" actId="20577"/>
          <ac:spMkLst>
            <pc:docMk/>
            <pc:sldMk cId="3360536989" sldId="300"/>
            <ac:spMk id="2" creationId="{F0EC0132-E724-53E9-2509-E3288A8A1F05}"/>
          </ac:spMkLst>
        </pc:spChg>
        <pc:spChg chg="del">
          <ac:chgData name="Rithika K" userId="65dc1e962506cd42" providerId="LiveId" clId="{30A984F3-0740-4713-8A05-E152C7B13214}" dt="2026-10-28T07:12:07.545" v="282" actId="478"/>
          <ac:spMkLst>
            <pc:docMk/>
            <pc:sldMk cId="3360536989" sldId="300"/>
            <ac:spMk id="3" creationId="{77266214-EF84-2414-255D-08146C79912C}"/>
          </ac:spMkLst>
        </pc:spChg>
        <pc:picChg chg="mod">
          <ac:chgData name="Rithika K" userId="65dc1e962506cd42" providerId="LiveId" clId="{30A984F3-0740-4713-8A05-E152C7B13214}" dt="2026-10-28T07:06:48.060" v="184" actId="14100"/>
          <ac:picMkLst>
            <pc:docMk/>
            <pc:sldMk cId="3360536989" sldId="300"/>
            <ac:picMk id="4" creationId="{BC424205-4EC3-F4DE-B708-5676AC0A07E8}"/>
          </ac:picMkLst>
        </pc:picChg>
      </pc:sldChg>
      <pc:sldChg chg="delSp modSp mod">
        <pc:chgData name="Rithika K" userId="65dc1e962506cd42" providerId="LiveId" clId="{30A984F3-0740-4713-8A05-E152C7B13214}" dt="2026-10-28T07:12:11.782" v="284" actId="478"/>
        <pc:sldMkLst>
          <pc:docMk/>
          <pc:sldMk cId="858078438" sldId="301"/>
        </pc:sldMkLst>
        <pc:spChg chg="mod">
          <ac:chgData name="Rithika K" userId="65dc1e962506cd42" providerId="LiveId" clId="{30A984F3-0740-4713-8A05-E152C7B13214}" dt="2026-10-28T07:07:51.274" v="210" actId="20577"/>
          <ac:spMkLst>
            <pc:docMk/>
            <pc:sldMk cId="858078438" sldId="301"/>
            <ac:spMk id="2" creationId="{58E6F9A5-3233-3A90-3D1F-69F6D7AD7F57}"/>
          </ac:spMkLst>
        </pc:spChg>
        <pc:spChg chg="del">
          <ac:chgData name="Rithika K" userId="65dc1e962506cd42" providerId="LiveId" clId="{30A984F3-0740-4713-8A05-E152C7B13214}" dt="2026-10-28T07:12:11.782" v="284" actId="478"/>
          <ac:spMkLst>
            <pc:docMk/>
            <pc:sldMk cId="858078438" sldId="301"/>
            <ac:spMk id="3" creationId="{C760EADF-5D64-BFCD-EAD9-17C51252D66A}"/>
          </ac:spMkLst>
        </pc:spChg>
        <pc:picChg chg="mod">
          <ac:chgData name="Rithika K" userId="65dc1e962506cd42" providerId="LiveId" clId="{30A984F3-0740-4713-8A05-E152C7B13214}" dt="2026-10-28T07:07:55.878" v="212" actId="14100"/>
          <ac:picMkLst>
            <pc:docMk/>
            <pc:sldMk cId="858078438" sldId="301"/>
            <ac:picMk id="4" creationId="{D450C174-F5CB-80C9-3BF4-45D40A8D5240}"/>
          </ac:picMkLst>
        </pc:picChg>
      </pc:sldChg>
      <pc:sldChg chg="delSp modSp mod">
        <pc:chgData name="Rithika K" userId="65dc1e962506cd42" providerId="LiveId" clId="{30A984F3-0740-4713-8A05-E152C7B13214}" dt="2026-10-28T07:12:13.797" v="285" actId="478"/>
        <pc:sldMkLst>
          <pc:docMk/>
          <pc:sldMk cId="3100126424" sldId="302"/>
        </pc:sldMkLst>
        <pc:spChg chg="mod">
          <ac:chgData name="Rithika K" userId="65dc1e962506cd42" providerId="LiveId" clId="{30A984F3-0740-4713-8A05-E152C7B13214}" dt="2026-10-28T07:08:29.376" v="225" actId="1076"/>
          <ac:spMkLst>
            <pc:docMk/>
            <pc:sldMk cId="3100126424" sldId="302"/>
            <ac:spMk id="2" creationId="{AE6C79A5-584B-B8B7-8CA2-915474B505D6}"/>
          </ac:spMkLst>
        </pc:spChg>
        <pc:spChg chg="del">
          <ac:chgData name="Rithika K" userId="65dc1e962506cd42" providerId="LiveId" clId="{30A984F3-0740-4713-8A05-E152C7B13214}" dt="2026-10-28T07:12:13.797" v="285" actId="478"/>
          <ac:spMkLst>
            <pc:docMk/>
            <pc:sldMk cId="3100126424" sldId="302"/>
            <ac:spMk id="3" creationId="{27F153C7-E6A4-F38B-6520-DADB9B95280D}"/>
          </ac:spMkLst>
        </pc:spChg>
        <pc:picChg chg="mod">
          <ac:chgData name="Rithika K" userId="65dc1e962506cd42" providerId="LiveId" clId="{30A984F3-0740-4713-8A05-E152C7B13214}" dt="2026-10-28T07:08:21.570" v="224" actId="14100"/>
          <ac:picMkLst>
            <pc:docMk/>
            <pc:sldMk cId="3100126424" sldId="302"/>
            <ac:picMk id="4" creationId="{3E11FE0E-D9D1-2B34-E8C6-72A8E97DC658}"/>
          </ac:picMkLst>
        </pc:picChg>
      </pc:sldChg>
      <pc:sldChg chg="delSp modSp mod">
        <pc:chgData name="Rithika K" userId="65dc1e962506cd42" providerId="LiveId" clId="{30A984F3-0740-4713-8A05-E152C7B13214}" dt="2026-10-28T07:12:24.106" v="289" actId="478"/>
        <pc:sldMkLst>
          <pc:docMk/>
          <pc:sldMk cId="1824983774" sldId="303"/>
        </pc:sldMkLst>
        <pc:spChg chg="mod">
          <ac:chgData name="Rithika K" userId="65dc1e962506cd42" providerId="LiveId" clId="{30A984F3-0740-4713-8A05-E152C7B13214}" dt="2026-10-28T07:09:59.045" v="252" actId="20577"/>
          <ac:spMkLst>
            <pc:docMk/>
            <pc:sldMk cId="1824983774" sldId="303"/>
            <ac:spMk id="2" creationId="{291E4676-7913-CE28-4E9B-E1B95BC4E311}"/>
          </ac:spMkLst>
        </pc:spChg>
        <pc:spChg chg="del mod">
          <ac:chgData name="Rithika K" userId="65dc1e962506cd42" providerId="LiveId" clId="{30A984F3-0740-4713-8A05-E152C7B13214}" dt="2026-10-28T07:12:24.106" v="289" actId="478"/>
          <ac:spMkLst>
            <pc:docMk/>
            <pc:sldMk cId="1824983774" sldId="303"/>
            <ac:spMk id="3" creationId="{4DB50409-D937-1780-4540-AD0D440E5F65}"/>
          </ac:spMkLst>
        </pc:spChg>
        <pc:picChg chg="mod">
          <ac:chgData name="Rithika K" userId="65dc1e962506cd42" providerId="LiveId" clId="{30A984F3-0740-4713-8A05-E152C7B13214}" dt="2026-10-28T07:10:03.274" v="254" actId="14100"/>
          <ac:picMkLst>
            <pc:docMk/>
            <pc:sldMk cId="1824983774" sldId="303"/>
            <ac:picMk id="4" creationId="{3C955349-FA77-50C6-9BB2-9ED5A9705B22}"/>
          </ac:picMkLst>
        </pc:picChg>
      </pc:sldChg>
      <pc:sldChg chg="delSp modSp mod">
        <pc:chgData name="Rithika K" userId="65dc1e962506cd42" providerId="LiveId" clId="{30A984F3-0740-4713-8A05-E152C7B13214}" dt="2026-10-28T07:12:26.071" v="290" actId="478"/>
        <pc:sldMkLst>
          <pc:docMk/>
          <pc:sldMk cId="3470714665" sldId="304"/>
        </pc:sldMkLst>
        <pc:spChg chg="del mod">
          <ac:chgData name="Rithika K" userId="65dc1e962506cd42" providerId="LiveId" clId="{30A984F3-0740-4713-8A05-E152C7B13214}" dt="2026-10-28T07:12:26.071" v="290" actId="478"/>
          <ac:spMkLst>
            <pc:docMk/>
            <pc:sldMk cId="3470714665" sldId="304"/>
            <ac:spMk id="3" creationId="{283CD647-0901-17AB-D20B-2C078C9B6471}"/>
          </ac:spMkLst>
        </pc:spChg>
      </pc:sldChg>
      <pc:sldChg chg="delSp modSp mod">
        <pc:chgData name="Rithika K" userId="65dc1e962506cd42" providerId="LiveId" clId="{30A984F3-0740-4713-8A05-E152C7B13214}" dt="2026-10-28T07:12:33.346" v="292" actId="478"/>
        <pc:sldMkLst>
          <pc:docMk/>
          <pc:sldMk cId="798171444" sldId="305"/>
        </pc:sldMkLst>
        <pc:spChg chg="mod">
          <ac:chgData name="Rithika K" userId="65dc1e962506cd42" providerId="LiveId" clId="{30A984F3-0740-4713-8A05-E152C7B13214}" dt="2026-10-28T06:58:54.408" v="46" actId="1076"/>
          <ac:spMkLst>
            <pc:docMk/>
            <pc:sldMk cId="798171444" sldId="305"/>
            <ac:spMk id="2" creationId="{0495183A-AB3A-9998-8AF3-75EDA1B1C1E6}"/>
          </ac:spMkLst>
        </pc:spChg>
        <pc:spChg chg="del mod">
          <ac:chgData name="Rithika K" userId="65dc1e962506cd42" providerId="LiveId" clId="{30A984F3-0740-4713-8A05-E152C7B13214}" dt="2026-10-28T07:12:33.346" v="292" actId="478"/>
          <ac:spMkLst>
            <pc:docMk/>
            <pc:sldMk cId="798171444" sldId="305"/>
            <ac:spMk id="3" creationId="{9E835511-DACD-1006-4B7C-4D3743A1774D}"/>
          </ac:spMkLst>
        </pc:spChg>
        <pc:picChg chg="mod">
          <ac:chgData name="Rithika K" userId="65dc1e962506cd42" providerId="LiveId" clId="{30A984F3-0740-4713-8A05-E152C7B13214}" dt="2026-10-28T06:58:58.811" v="48" actId="14100"/>
          <ac:picMkLst>
            <pc:docMk/>
            <pc:sldMk cId="798171444" sldId="305"/>
            <ac:picMk id="12" creationId="{7F3F9227-2802-5B89-4527-6DDAF6BEA9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017718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9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7068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3097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2148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0" y="514350"/>
            <a:ext cx="4573588" cy="257175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92587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12"/>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2"/>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8"/>
        <p:cNvGrpSpPr/>
        <p:nvPr/>
      </p:nvGrpSpPr>
      <p:grpSpPr>
        <a:xfrm>
          <a:off x="0" y="0"/>
          <a:ext cx="0" cy="0"/>
          <a:chOff x="0" y="0"/>
          <a:chExt cx="0" cy="0"/>
        </a:xfrm>
      </p:grpSpPr>
      <p:sp>
        <p:nvSpPr>
          <p:cNvPr id="19" name="Google Shape;19;p13"/>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p1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
        <p:cNvGrpSpPr/>
        <p:nvPr/>
      </p:nvGrpSpPr>
      <p:grpSpPr>
        <a:xfrm>
          <a:off x="0" y="0"/>
          <a:ext cx="0" cy="0"/>
          <a:chOff x="0" y="0"/>
          <a:chExt cx="0" cy="0"/>
        </a:xfrm>
      </p:grpSpPr>
      <p:sp>
        <p:nvSpPr>
          <p:cNvPr id="37" name="Google Shape;37;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1"/>
          <p:cNvPicPr preferRelativeResize="0"/>
          <p:nvPr/>
        </p:nvPicPr>
        <p:blipFill rotWithShape="1">
          <a:blip r:embed="rId6">
            <a:alphaModFix/>
          </a:blip>
          <a:srcRect/>
          <a:stretch/>
        </p:blipFill>
        <p:spPr>
          <a:xfrm>
            <a:off x="0" y="0"/>
            <a:ext cx="12191999" cy="6857999"/>
          </a:xfrm>
          <a:prstGeom prst="rect">
            <a:avLst/>
          </a:prstGeom>
          <a:noFill/>
          <a:ln>
            <a:noFill/>
          </a:ln>
        </p:spPr>
      </p:pic>
      <p:sp>
        <p:nvSpPr>
          <p:cNvPr id="7" name="Google Shape;7;p11"/>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1"/>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1"/>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orvile/household-energy-consumption-with-weather-data/data"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app.powerbi.com/groups/me/dashboards/5e1b9584-a7c7-4c4f-91f0-4819ca59da6c?experience=power-bi"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95CB-4CF9-428A-1F7C-D068884E915A}"/>
              </a:ext>
            </a:extLst>
          </p:cNvPr>
          <p:cNvSpPr>
            <a:spLocks noGrp="1"/>
          </p:cNvSpPr>
          <p:nvPr>
            <p:ph type="title"/>
          </p:nvPr>
        </p:nvSpPr>
        <p:spPr>
          <a:xfrm>
            <a:off x="4565326" y="616931"/>
            <a:ext cx="4850817" cy="553998"/>
          </a:xfrm>
        </p:spPr>
        <p:txBody>
          <a:bodyPr/>
          <a:lstStyle/>
          <a:p>
            <a:r>
              <a:rPr lang="en-US" sz="3600" b="1" dirty="0">
                <a:latin typeface="Times New Roman" panose="02020603050405020304" pitchFamily="18" charset="0"/>
                <a:cs typeface="Times New Roman" panose="02020603050405020304" pitchFamily="18" charset="0"/>
              </a:rPr>
              <a:t>DATASET LINK</a:t>
            </a:r>
            <a:endParaRPr lang="en-IN" sz="3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5C573C8-7A6D-A8D0-CBA5-528C42D70B0E}"/>
              </a:ext>
            </a:extLst>
          </p:cNvPr>
          <p:cNvPicPr>
            <a:picLocks noChangeAspect="1"/>
          </p:cNvPicPr>
          <p:nvPr/>
        </p:nvPicPr>
        <p:blipFill>
          <a:blip r:embed="rId2"/>
          <a:stretch>
            <a:fillRect/>
          </a:stretch>
        </p:blipFill>
        <p:spPr>
          <a:xfrm>
            <a:off x="1111827" y="2245726"/>
            <a:ext cx="10654145" cy="3590098"/>
          </a:xfrm>
          <a:prstGeom prst="rect">
            <a:avLst/>
          </a:prstGeom>
        </p:spPr>
      </p:pic>
      <p:sp>
        <p:nvSpPr>
          <p:cNvPr id="4" name="TextBox 3">
            <a:extLst>
              <a:ext uri="{FF2B5EF4-FFF2-40B4-BE49-F238E27FC236}">
                <a16:creationId xmlns:a16="http://schemas.microsoft.com/office/drawing/2014/main" id="{AAAFFD7A-B444-AB99-8772-DABB5815DA5A}"/>
              </a:ext>
            </a:extLst>
          </p:cNvPr>
          <p:cNvSpPr txBox="1"/>
          <p:nvPr/>
        </p:nvSpPr>
        <p:spPr>
          <a:xfrm>
            <a:off x="4260272" y="1444518"/>
            <a:ext cx="8697191" cy="307777"/>
          </a:xfrm>
          <a:prstGeom prst="rect">
            <a:avLst/>
          </a:prstGeom>
          <a:noFill/>
        </p:spPr>
        <p:txBody>
          <a:bodyPr wrap="square" rtlCol="0">
            <a:spAutoFit/>
          </a:bodyPr>
          <a:lstStyle/>
          <a:p>
            <a:r>
              <a:rPr lang="en-US" dirty="0">
                <a:hlinkClick r:id="rId3"/>
              </a:rPr>
              <a:t>Household energy consumption with weather data</a:t>
            </a:r>
            <a:endParaRPr lang="en-IN" dirty="0"/>
          </a:p>
        </p:txBody>
      </p:sp>
    </p:spTree>
    <p:extLst>
      <p:ext uri="{BB962C8B-B14F-4D97-AF65-F5344CB8AC3E}">
        <p14:creationId xmlns:p14="http://schemas.microsoft.com/office/powerpoint/2010/main" val="3889984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1018007" y="545466"/>
            <a:ext cx="9997076" cy="1305486"/>
          </a:xfrm>
          <a:prstGeom prst="rect">
            <a:avLst/>
          </a:prstGeom>
          <a:noFill/>
          <a:ln>
            <a:noFill/>
          </a:ln>
        </p:spPr>
        <p:txBody>
          <a:bodyPr spcFirstLastPara="1" wrap="square" lIns="0" tIns="12700" rIns="0" bIns="0" anchor="t" anchorCtr="0">
            <a:spAutoFit/>
          </a:bodyPr>
          <a:lstStyle/>
          <a:p>
            <a:pPr algn="r"/>
            <a:r>
              <a:rPr lang="en-IN" sz="2800" b="1" dirty="0">
                <a:latin typeface="Times New Roman" panose="02020603050405020304" pitchFamily="18" charset="0"/>
                <a:cs typeface="Times New Roman" panose="02020603050405020304" pitchFamily="18" charset="0"/>
              </a:rPr>
              <a:t>DATA DESCRIPTION AND PREPROCESSING DONE</a:t>
            </a:r>
            <a:br>
              <a:rPr lang="en-IN" sz="2800" dirty="0"/>
            </a:br>
            <a:br>
              <a:rPr lang="en-IN" sz="2800" dirty="0"/>
            </a:br>
            <a:endParaRPr sz="2800" dirty="0">
              <a:latin typeface="Times New Roman" panose="02020603050405020304" pitchFamily="18" charset="0"/>
              <a:cs typeface="Times New Roman" panose="02020603050405020304" pitchFamily="18" charset="0"/>
            </a:endParaRPr>
          </a:p>
        </p:txBody>
      </p:sp>
      <p:sp>
        <p:nvSpPr>
          <p:cNvPr id="5" name="Google Shape;75;g2588bb4af59_0_6"/>
          <p:cNvSpPr txBox="1"/>
          <p:nvPr/>
        </p:nvSpPr>
        <p:spPr>
          <a:xfrm>
            <a:off x="1375926" y="1384608"/>
            <a:ext cx="5519204" cy="4394219"/>
          </a:xfrm>
          <a:prstGeom prst="rect">
            <a:avLst/>
          </a:prstGeom>
          <a:noFill/>
          <a:ln>
            <a:noFill/>
          </a:ln>
        </p:spPr>
        <p:txBody>
          <a:bodyPr spcFirstLastPara="1" wrap="square" lIns="0" tIns="12700" rIns="0" bIns="0" anchor="t" anchorCtr="0">
            <a:no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TOTAL ROWS :   605260</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TOTAL COLUMNS : 19</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COLUMNS:</a:t>
            </a:r>
            <a:br>
              <a:rPr lang="en-IN" sz="2000" dirty="0">
                <a:latin typeface="Times New Roman" panose="02020603050405020304" pitchFamily="18" charset="0"/>
                <a:cs typeface="Times New Roman" panose="02020603050405020304" pitchFamily="18" charset="0"/>
              </a:rPr>
            </a:br>
            <a:endParaRPr lang="en-IN" sz="2000" dirty="0">
              <a:solidFill>
                <a:schemeClr val="dk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EF34097-8BF7-B715-537C-0EB989F4C790}"/>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Lst>
          </a:blip>
          <a:stretch>
            <a:fillRect/>
          </a:stretch>
        </p:blipFill>
        <p:spPr>
          <a:xfrm>
            <a:off x="1707859" y="2611114"/>
            <a:ext cx="9566684" cy="3378205"/>
          </a:xfrm>
          <a:prstGeom prst="rect">
            <a:avLst/>
          </a:prstGeom>
        </p:spPr>
      </p:pic>
    </p:spTree>
    <p:extLst>
      <p:ext uri="{BB962C8B-B14F-4D97-AF65-F5344CB8AC3E}">
        <p14:creationId xmlns:p14="http://schemas.microsoft.com/office/powerpoint/2010/main" val="15488777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2954106" y="662550"/>
            <a:ext cx="6283787"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b="1" dirty="0">
                <a:solidFill>
                  <a:schemeClr val="tx1"/>
                </a:solidFill>
                <a:latin typeface="Times New Roman" panose="02020603050405020304" pitchFamily="18" charset="0"/>
                <a:cs typeface="Times New Roman" panose="02020603050405020304" pitchFamily="18" charset="0"/>
              </a:rPr>
              <a:t>DATA TRANSFORMATION</a:t>
            </a:r>
            <a:endParaRPr sz="32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0441595-39A2-2DDA-9C17-EC488A94B81C}"/>
              </a:ext>
            </a:extLst>
          </p:cNvPr>
          <p:cNvPicPr>
            <a:picLocks noChangeAspect="1"/>
          </p:cNvPicPr>
          <p:nvPr/>
        </p:nvPicPr>
        <p:blipFill>
          <a:blip r:embed="rId3"/>
          <a:stretch>
            <a:fillRect/>
          </a:stretch>
        </p:blipFill>
        <p:spPr>
          <a:xfrm>
            <a:off x="1761561" y="1760757"/>
            <a:ext cx="3534268" cy="4182059"/>
          </a:xfrm>
          <a:prstGeom prst="rect">
            <a:avLst/>
          </a:prstGeom>
        </p:spPr>
      </p:pic>
      <p:pic>
        <p:nvPicPr>
          <p:cNvPr id="11" name="Picture 10">
            <a:extLst>
              <a:ext uri="{FF2B5EF4-FFF2-40B4-BE49-F238E27FC236}">
                <a16:creationId xmlns:a16="http://schemas.microsoft.com/office/drawing/2014/main" id="{8788E045-4EA5-90E6-7B1D-42056CEF12EA}"/>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900"/>
                    </a14:imgEffect>
                    <a14:imgEffect>
                      <a14:saturation sat="0"/>
                    </a14:imgEffect>
                  </a14:imgLayer>
                </a14:imgProps>
              </a:ext>
            </a:extLst>
          </a:blip>
          <a:stretch>
            <a:fillRect/>
          </a:stretch>
        </p:blipFill>
        <p:spPr>
          <a:xfrm>
            <a:off x="6623523" y="1760757"/>
            <a:ext cx="2953162" cy="41820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2025445" y="562610"/>
            <a:ext cx="8593394" cy="505267"/>
          </a:xfrm>
          <a:prstGeom prst="rect">
            <a:avLst/>
          </a:prstGeom>
          <a:noFill/>
          <a:ln>
            <a:noFill/>
          </a:ln>
        </p:spPr>
        <p:txBody>
          <a:bodyPr spcFirstLastPara="1" wrap="square" lIns="0" tIns="12700" rIns="0" bIns="0" anchor="t" anchorCtr="0">
            <a:spAutoFit/>
          </a:bodyPr>
          <a:lstStyle/>
          <a:p>
            <a:pPr marL="12700" lvl="0" algn="ctr"/>
            <a:r>
              <a:rPr lang="en-IN" sz="3200" b="1" dirty="0">
                <a:latin typeface="Times New Roman" panose="02020603050405020304" pitchFamily="18" charset="0"/>
                <a:cs typeface="Times New Roman" panose="02020603050405020304" pitchFamily="18" charset="0"/>
              </a:rPr>
              <a:t>DATA DESCRIPTION AFTER PROCESSING</a:t>
            </a:r>
            <a:endParaRPr sz="3200"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712BDB-1DA0-C704-3462-B7E403B5F2AC}"/>
              </a:ext>
            </a:extLst>
          </p:cNvPr>
          <p:cNvPicPr>
            <a:picLocks noChangeAspect="1"/>
          </p:cNvPicPr>
          <p:nvPr/>
        </p:nvPicPr>
        <p:blipFill>
          <a:blip r:embed="rId3"/>
          <a:stretch>
            <a:fillRect/>
          </a:stretch>
        </p:blipFill>
        <p:spPr>
          <a:xfrm>
            <a:off x="1340427" y="1692543"/>
            <a:ext cx="10380517" cy="4926465"/>
          </a:xfrm>
          <a:prstGeom prst="rect">
            <a:avLst/>
          </a:prstGeom>
        </p:spPr>
      </p:pic>
    </p:spTree>
    <p:extLst>
      <p:ext uri="{BB962C8B-B14F-4D97-AF65-F5344CB8AC3E}">
        <p14:creationId xmlns:p14="http://schemas.microsoft.com/office/powerpoint/2010/main" val="3552874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65986" y="404124"/>
            <a:ext cx="6320913" cy="443711"/>
          </a:xfrm>
          <a:prstGeom prst="rect">
            <a:avLst/>
          </a:prstGeom>
          <a:noFill/>
          <a:ln>
            <a:noFill/>
          </a:ln>
        </p:spPr>
        <p:txBody>
          <a:bodyPr spcFirstLastPara="1" wrap="square" lIns="0" tIns="12700" rIns="0" bIns="0" anchor="t" anchorCtr="0">
            <a:spAutoFit/>
          </a:bodyPr>
          <a:lstStyle/>
          <a:p>
            <a:pPr marL="12700" lvl="0" algn="ctr"/>
            <a:r>
              <a:rPr lang="en-US" sz="2800" b="1" dirty="0">
                <a:latin typeface="Times New Roman" panose="02020603050405020304" pitchFamily="18" charset="0"/>
                <a:cs typeface="Times New Roman" panose="02020603050405020304" pitchFamily="18" charset="0"/>
              </a:rPr>
              <a:t>QUESTIONS THAT CAN BE FRAMED</a:t>
            </a:r>
            <a:endParaRPr sz="28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2949ABA-6BBF-2B5A-30B2-0CEDE1AFD009}"/>
              </a:ext>
            </a:extLst>
          </p:cNvPr>
          <p:cNvSpPr txBox="1"/>
          <p:nvPr/>
        </p:nvSpPr>
        <p:spPr>
          <a:xfrm>
            <a:off x="1232357" y="1072586"/>
            <a:ext cx="10188169" cy="5442324"/>
          </a:xfrm>
          <a:prstGeom prst="rect">
            <a:avLst/>
          </a:prstGeom>
          <a:noFill/>
        </p:spPr>
        <p:txBody>
          <a:bodyPr wrap="square" rtlCol="0">
            <a:spAutoFit/>
          </a:bodyPr>
          <a:lstStyle/>
          <a:p>
            <a:pPr>
              <a:lnSpc>
                <a:spcPts val="3000"/>
              </a:lnSpc>
            </a:pPr>
            <a:r>
              <a:rPr lang="en-US" sz="2000" dirty="0">
                <a:latin typeface="Times New Roman" panose="02020603050405020304" pitchFamily="18" charset="0"/>
                <a:cs typeface="Times New Roman" panose="02020603050405020304" pitchFamily="18" charset="0"/>
              </a:rPr>
              <a:t>1. Compare voltage levels across different  months when humidity is above 80%.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2. Analyze the change in apparent power between weekends and weekdays when wind speed exceeds 10 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3. Find the top 10 days with the highest apparent power when the pressure is below 1000 </a:t>
            </a:r>
            <a:r>
              <a:rPr lang="en-US" sz="2000" dirty="0" err="1">
                <a:latin typeface="Times New Roman" panose="02020603050405020304" pitchFamily="18" charset="0"/>
                <a:cs typeface="Times New Roman" panose="02020603050405020304" pitchFamily="18" charset="0"/>
              </a:rPr>
              <a:t>hPa</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4. What is the difference in average apparent power on holidays vs working days when humidity is above 60%?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5. What is the correlation between pressure and reactive power during early mornings (0–6 AM)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6. What is the average humidity at different times of the day?</a:t>
            </a:r>
          </a:p>
          <a:p>
            <a:pPr>
              <a:lnSpc>
                <a:spcPts val="3000"/>
              </a:lnSpc>
            </a:pPr>
            <a:r>
              <a:rPr lang="en-US" sz="2000" dirty="0">
                <a:latin typeface="Times New Roman" panose="02020603050405020304" pitchFamily="18" charset="0"/>
                <a:cs typeface="Times New Roman" panose="02020603050405020304" pitchFamily="18" charset="0"/>
              </a:rPr>
              <a:t>7. Identify time slots (hour ranges) with low voltage (&lt; 110V) during hot and humid days(temp &gt;  32 C , humidity &gt;75%)</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8. How does power factor change on days with both low wind speed(speed&lt;3)</a:t>
            </a:r>
            <a:r>
              <a:rPr lang="en-IN" sz="2000" dirty="0">
                <a:latin typeface="Times New Roman" panose="02020603050405020304" pitchFamily="18" charset="0"/>
                <a:cs typeface="Times New Roman" panose="02020603050405020304" pitchFamily="18" charset="0"/>
              </a:rPr>
              <a:t> and low atmospheric pressure(pressure&lt;1000)</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9. How does the average active power vary across different hours of the day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10. How does the average atmospheric pressure vary across different weather conditions?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0517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AA1CA-6B53-E381-38C8-C9A673DF0CA7}"/>
              </a:ext>
            </a:extLst>
          </p:cNvPr>
          <p:cNvSpPr>
            <a:spLocks noGrp="1"/>
          </p:cNvSpPr>
          <p:nvPr>
            <p:ph type="title"/>
          </p:nvPr>
        </p:nvSpPr>
        <p:spPr>
          <a:xfrm>
            <a:off x="1238194" y="1185062"/>
            <a:ext cx="10953806" cy="7478970"/>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11.What is the most frequent weather condition based on the ‘main’ column?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12.What is the most common sky condition based on the ‘description’ column?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13.How often do extreme weather events like thunderstorms and heavy rain occur?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14.How does </a:t>
            </a:r>
            <a:r>
              <a:rPr lang="en-US" sz="2400" dirty="0" err="1">
                <a:latin typeface="Times New Roman" panose="02020603050405020304" pitchFamily="18" charset="0"/>
                <a:cs typeface="Times New Roman" panose="02020603050405020304" pitchFamily="18" charset="0"/>
              </a:rPr>
              <a:t>temp_max</a:t>
            </a:r>
            <a:r>
              <a:rPr lang="en-US" sz="2400" dirty="0">
                <a:latin typeface="Times New Roman" panose="02020603050405020304" pitchFamily="18" charset="0"/>
                <a:cs typeface="Times New Roman" panose="02020603050405020304" pitchFamily="18" charset="0"/>
              </a:rPr>
              <a:t> vary between ‘Clear’ and ‘Clouds’ conditions?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15.Is humidity higher during ‘Mist’, ‘Fog’, or ‘Haze’ conditions?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16.How do clear sky and broken clouds temperatures compare at 9 AM?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17.Which weather type has the lowest average feels_like_t+1 temperature?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18.How does the frequency of ‘Clouds’ weather change over the months?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19. Is ‘clear sky’ more common in any specific quarter?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20 .Are rainy days more humid than clear days?</a:t>
            </a:r>
            <a:br>
              <a:rPr lang="en-IN"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6F8835A7-DDE5-FE4F-5EE4-2BF72E70B39B}"/>
              </a:ext>
            </a:extLst>
          </p:cNvPr>
          <p:cNvSpPr>
            <a:spLocks noChangeArrowheads="1"/>
          </p:cNvSpPr>
          <p:nvPr/>
        </p:nvSpPr>
        <p:spPr bwMode="auto">
          <a:xfrm>
            <a:off x="1283617" y="4974196"/>
            <a:ext cx="1847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50C1E08E-9474-7546-2E5E-2EE7AE7E8B26}"/>
              </a:ext>
            </a:extLst>
          </p:cNvPr>
          <p:cNvSpPr txBox="1"/>
          <p:nvPr/>
        </p:nvSpPr>
        <p:spPr>
          <a:xfrm>
            <a:off x="1632155" y="1258529"/>
            <a:ext cx="9537290" cy="307777"/>
          </a:xfrm>
          <a:prstGeom prst="rect">
            <a:avLst/>
          </a:prstGeom>
          <a:noFill/>
        </p:spPr>
        <p:txBody>
          <a:bodyPr wrap="square" rtlCol="0">
            <a:spAutoFit/>
          </a:bodyPr>
          <a:lstStyle/>
          <a:p>
            <a:endParaRPr lang="en-IN" dirty="0"/>
          </a:p>
        </p:txBody>
      </p:sp>
      <p:sp>
        <p:nvSpPr>
          <p:cNvPr id="4" name="Google Shape;106;p8">
            <a:extLst>
              <a:ext uri="{FF2B5EF4-FFF2-40B4-BE49-F238E27FC236}">
                <a16:creationId xmlns:a16="http://schemas.microsoft.com/office/drawing/2014/main" id="{7CC9033C-A70F-74A0-F0AA-CEEA6F240C11}"/>
              </a:ext>
            </a:extLst>
          </p:cNvPr>
          <p:cNvSpPr txBox="1">
            <a:spLocks/>
          </p:cNvSpPr>
          <p:nvPr/>
        </p:nvSpPr>
        <p:spPr>
          <a:xfrm>
            <a:off x="3156842" y="556229"/>
            <a:ext cx="6320913" cy="44371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lgn="ctr"/>
            <a:r>
              <a:rPr lang="en-US" sz="2800" b="1" dirty="0">
                <a:latin typeface="Times New Roman" panose="02020603050405020304" pitchFamily="18" charset="0"/>
                <a:cs typeface="Times New Roman" panose="02020603050405020304" pitchFamily="18" charset="0"/>
              </a:rPr>
              <a:t>QUESTIONS THAT CAN BE FRAMED</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0660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4B44E-1E27-27B2-A4C6-94D5FF64615A}"/>
              </a:ext>
            </a:extLst>
          </p:cNvPr>
          <p:cNvSpPr>
            <a:spLocks noGrp="1"/>
          </p:cNvSpPr>
          <p:nvPr>
            <p:ph type="title"/>
          </p:nvPr>
        </p:nvSpPr>
        <p:spPr>
          <a:xfrm>
            <a:off x="1337188" y="1029886"/>
            <a:ext cx="10491018" cy="2769989"/>
          </a:xfrm>
        </p:spPr>
        <p:txBody>
          <a:bodyPr/>
          <a:lstStyle/>
          <a:p>
            <a:r>
              <a:rPr lang="en-US" sz="2000" dirty="0"/>
              <a:t>1.</a:t>
            </a:r>
            <a:r>
              <a:rPr lang="en-US" sz="2000" dirty="0">
                <a:latin typeface="Times New Roman" panose="02020603050405020304" pitchFamily="18" charset="0"/>
                <a:cs typeface="Times New Roman" panose="02020603050405020304" pitchFamily="18" charset="0"/>
              </a:rPr>
              <a:t> Compare voltage levels across different  months when humidity is above 80%.</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AvgActivePower_HighHumidity</a:t>
            </a:r>
            <a:r>
              <a:rPr lang="en-US" sz="2000" dirty="0">
                <a:latin typeface="Times New Roman" panose="02020603050405020304" pitchFamily="18" charset="0"/>
                <a:cs typeface="Times New Roman" panose="02020603050405020304" pitchFamily="18" charset="0"/>
              </a:rPr>
              <a:t> =CALCULATE(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active_power</a:t>
            </a:r>
            <a:r>
              <a:rPr lang="en-US" sz="2000" dirty="0">
                <a:latin typeface="Times New Roman" panose="02020603050405020304" pitchFamily="18" charset="0"/>
                <a:cs typeface="Times New Roman" panose="02020603050405020304" pitchFamily="18" charset="0"/>
              </a:rPr>
              <a:t>]),    FILTER(</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[humidity] &gt; 80))</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INFERENCE : The sum of Average active power with respect to humidity is </a:t>
            </a:r>
            <a:r>
              <a:rPr lang="en-US" sz="2000" b="1" dirty="0">
                <a:latin typeface="Times New Roman" panose="02020603050405020304" pitchFamily="18" charset="0"/>
                <a:cs typeface="Times New Roman" panose="02020603050405020304" pitchFamily="18" charset="0"/>
              </a:rPr>
              <a:t>140.83M.</a:t>
            </a:r>
            <a:br>
              <a:rPr lang="en-US" sz="2000" b="1" dirty="0">
                <a:latin typeface="Times New Roman" panose="02020603050405020304" pitchFamily="18" charset="0"/>
                <a:cs typeface="Times New Roman" panose="02020603050405020304" pitchFamily="18" charset="0"/>
              </a:rPr>
            </a:br>
            <a:endParaRPr lang="en-IN" sz="2000" dirty="0"/>
          </a:p>
        </p:txBody>
      </p:sp>
      <p:pic>
        <p:nvPicPr>
          <p:cNvPr id="4" name="Picture 3">
            <a:extLst>
              <a:ext uri="{FF2B5EF4-FFF2-40B4-BE49-F238E27FC236}">
                <a16:creationId xmlns:a16="http://schemas.microsoft.com/office/drawing/2014/main" id="{5B8DB42C-C290-DDBF-D98F-7659F3790BAE}"/>
              </a:ext>
            </a:extLst>
          </p:cNvPr>
          <p:cNvPicPr>
            <a:picLocks noChangeAspect="1"/>
          </p:cNvPicPr>
          <p:nvPr/>
        </p:nvPicPr>
        <p:blipFill>
          <a:blip r:embed="rId2"/>
          <a:stretch>
            <a:fillRect/>
          </a:stretch>
        </p:blipFill>
        <p:spPr>
          <a:xfrm>
            <a:off x="4306528" y="3794736"/>
            <a:ext cx="3382297" cy="2033378"/>
          </a:xfrm>
          <a:prstGeom prst="rect">
            <a:avLst/>
          </a:prstGeom>
        </p:spPr>
      </p:pic>
    </p:spTree>
    <p:extLst>
      <p:ext uri="{BB962C8B-B14F-4D97-AF65-F5344CB8AC3E}">
        <p14:creationId xmlns:p14="http://schemas.microsoft.com/office/powerpoint/2010/main" val="2654152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9D3BD-15DF-2C33-2E13-FB7058534151}"/>
              </a:ext>
            </a:extLst>
          </p:cNvPr>
          <p:cNvSpPr>
            <a:spLocks noGrp="1"/>
          </p:cNvSpPr>
          <p:nvPr>
            <p:ph type="title"/>
          </p:nvPr>
        </p:nvSpPr>
        <p:spPr>
          <a:xfrm>
            <a:off x="1042220" y="1020054"/>
            <a:ext cx="11021961" cy="2769989"/>
          </a:xfrm>
        </p:spPr>
        <p:txBody>
          <a:bodyPr/>
          <a:lstStyle/>
          <a:p>
            <a:r>
              <a:rPr lang="en-US" sz="2000" dirty="0">
                <a:latin typeface="Times New Roman" panose="02020603050405020304" pitchFamily="18" charset="0"/>
                <a:cs typeface="Times New Roman" panose="02020603050405020304" pitchFamily="18" charset="0"/>
              </a:rPr>
              <a:t>2. Analyze the change in apparent power between weekends and weekdays when wind speed exceeds 10 m/s.</a:t>
            </a:r>
            <a:br>
              <a:rPr lang="en-US" sz="66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IsWeekend</a:t>
            </a:r>
            <a:r>
              <a:rPr lang="en-US" sz="2000" dirty="0">
                <a:latin typeface="Times New Roman" panose="02020603050405020304" pitchFamily="18" charset="0"/>
                <a:cs typeface="Times New Roman" panose="02020603050405020304" pitchFamily="18" charset="0"/>
              </a:rPr>
              <a:t> =IF(WEEKDAY(</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[date], 2) &gt;= 6,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"Weekend", "Weekday")</a:t>
            </a:r>
            <a:r>
              <a:rPr lang="en-US" sz="2000" dirty="0" err="1">
                <a:latin typeface="Times New Roman" panose="02020603050405020304" pitchFamily="18" charset="0"/>
                <a:cs typeface="Times New Roman" panose="02020603050405020304" pitchFamily="18" charset="0"/>
              </a:rPr>
              <a:t>AvgTemp_Week</a:t>
            </a:r>
            <a:r>
              <a:rPr lang="en-US" sz="2000" dirty="0">
                <a:latin typeface="Times New Roman" panose="02020603050405020304" pitchFamily="18" charset="0"/>
                <a:cs typeface="Times New Roman" panose="02020603050405020304" pitchFamily="18" charset="0"/>
              </a:rPr>
              <a:t> =AVERAGE(</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[temp])</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change in apparent power between weekends and weekdays when wind speed exceeds 10 m/s where temperature is comparatively </a:t>
            </a:r>
            <a:r>
              <a:rPr lang="en-US" sz="2000" b="1" dirty="0">
                <a:latin typeface="Times New Roman" panose="02020603050405020304" pitchFamily="18" charset="0"/>
                <a:cs typeface="Times New Roman" panose="02020603050405020304" pitchFamily="18" charset="0"/>
              </a:rPr>
              <a:t>higher</a:t>
            </a:r>
            <a:r>
              <a:rPr lang="en-US" sz="2000" dirty="0">
                <a:latin typeface="Times New Roman" panose="02020603050405020304" pitchFamily="18" charset="0"/>
                <a:cs typeface="Times New Roman" panose="02020603050405020304" pitchFamily="18" charset="0"/>
              </a:rPr>
              <a:t> in Weekday than Weekend.</a:t>
            </a:r>
            <a:endParaRPr lang="en-IN" sz="2000" dirty="0"/>
          </a:p>
        </p:txBody>
      </p:sp>
      <p:pic>
        <p:nvPicPr>
          <p:cNvPr id="4" name="Picture 3">
            <a:extLst>
              <a:ext uri="{FF2B5EF4-FFF2-40B4-BE49-F238E27FC236}">
                <a16:creationId xmlns:a16="http://schemas.microsoft.com/office/drawing/2014/main" id="{13C351AF-1EC7-503F-8E94-2D9FD6DC83EC}"/>
              </a:ext>
            </a:extLst>
          </p:cNvPr>
          <p:cNvPicPr>
            <a:picLocks noChangeAspect="1"/>
          </p:cNvPicPr>
          <p:nvPr/>
        </p:nvPicPr>
        <p:blipFill>
          <a:blip r:embed="rId2"/>
          <a:stretch>
            <a:fillRect/>
          </a:stretch>
        </p:blipFill>
        <p:spPr>
          <a:xfrm>
            <a:off x="4973553" y="4097820"/>
            <a:ext cx="2038635" cy="2257740"/>
          </a:xfrm>
          <a:prstGeom prst="rect">
            <a:avLst/>
          </a:prstGeom>
        </p:spPr>
      </p:pic>
    </p:spTree>
    <p:extLst>
      <p:ext uri="{BB962C8B-B14F-4D97-AF65-F5344CB8AC3E}">
        <p14:creationId xmlns:p14="http://schemas.microsoft.com/office/powerpoint/2010/main" val="745593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D16C-28D1-9804-055A-8637465509B5}"/>
              </a:ext>
            </a:extLst>
          </p:cNvPr>
          <p:cNvSpPr>
            <a:spLocks noGrp="1"/>
          </p:cNvSpPr>
          <p:nvPr>
            <p:ph type="title"/>
          </p:nvPr>
        </p:nvSpPr>
        <p:spPr>
          <a:xfrm>
            <a:off x="1022555" y="872572"/>
            <a:ext cx="10800637" cy="2769989"/>
          </a:xfrm>
        </p:spPr>
        <p:txBody>
          <a:bodyPr/>
          <a:lstStyle/>
          <a:p>
            <a:r>
              <a:rPr lang="en-US" sz="2000" dirty="0">
                <a:latin typeface="Times New Roman" panose="02020603050405020304" pitchFamily="18" charset="0"/>
                <a:cs typeface="Times New Roman" panose="02020603050405020304" pitchFamily="18" charset="0"/>
              </a:rPr>
              <a:t>3. Find the top 10 days with the highest apparent power when the pressure is below 1000 </a:t>
            </a:r>
            <a:r>
              <a:rPr lang="en-US" sz="2000" dirty="0" err="1">
                <a:latin typeface="Times New Roman" panose="02020603050405020304" pitchFamily="18" charset="0"/>
                <a:cs typeface="Times New Roman" panose="02020603050405020304" pitchFamily="18" charset="0"/>
              </a:rPr>
              <a:t>hPa</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MonthName</a:t>
            </a:r>
            <a:r>
              <a:rPr lang="en-US" sz="2000" dirty="0">
                <a:latin typeface="Times New Roman" panose="02020603050405020304" pitchFamily="18" charset="0"/>
                <a:cs typeface="Times New Roman" panose="02020603050405020304" pitchFamily="18" charset="0"/>
              </a:rPr>
              <a:t> =FORMAT(</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[date], "MMMM")</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AvgApparentPower</a:t>
            </a:r>
            <a:r>
              <a:rPr lang="en-US" sz="2000" dirty="0">
                <a:latin typeface="Times New Roman" panose="02020603050405020304" pitchFamily="18" charset="0"/>
                <a:cs typeface="Times New Roman" panose="02020603050405020304" pitchFamily="18" charset="0"/>
              </a:rPr>
              <a:t>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apparent_power</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top 10 days with the highest apparent power when the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pressure is below 1000 </a:t>
            </a:r>
            <a:r>
              <a:rPr lang="en-US" sz="2000" dirty="0" err="1">
                <a:latin typeface="Times New Roman" panose="02020603050405020304" pitchFamily="18" charset="0"/>
                <a:cs typeface="Times New Roman" panose="02020603050405020304" pitchFamily="18" charset="0"/>
              </a:rPr>
              <a:t>hPa</a:t>
            </a:r>
            <a:r>
              <a:rPr lang="en-US" sz="2000" dirty="0">
                <a:latin typeface="Times New Roman" panose="02020603050405020304" pitchFamily="18" charset="0"/>
                <a:cs typeface="Times New Roman" panose="02020603050405020304" pitchFamily="18" charset="0"/>
              </a:rPr>
              <a:t> is in Month </a:t>
            </a:r>
            <a:r>
              <a:rPr lang="en-US" sz="2000" b="1" dirty="0">
                <a:latin typeface="Times New Roman" panose="02020603050405020304" pitchFamily="18" charset="0"/>
                <a:cs typeface="Times New Roman" panose="02020603050405020304" pitchFamily="18" charset="0"/>
              </a:rPr>
              <a:t>JULY</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CA4A8B4-5EAA-F779-3F53-C99649E7D81C}"/>
              </a:ext>
            </a:extLst>
          </p:cNvPr>
          <p:cNvPicPr>
            <a:picLocks noChangeAspect="1"/>
          </p:cNvPicPr>
          <p:nvPr/>
        </p:nvPicPr>
        <p:blipFill>
          <a:blip r:embed="rId2"/>
          <a:stretch>
            <a:fillRect/>
          </a:stretch>
        </p:blipFill>
        <p:spPr>
          <a:xfrm>
            <a:off x="3171953" y="3572529"/>
            <a:ext cx="5848093" cy="2845018"/>
          </a:xfrm>
          <a:prstGeom prst="rect">
            <a:avLst/>
          </a:prstGeom>
        </p:spPr>
      </p:pic>
    </p:spTree>
    <p:extLst>
      <p:ext uri="{BB962C8B-B14F-4D97-AF65-F5344CB8AC3E}">
        <p14:creationId xmlns:p14="http://schemas.microsoft.com/office/powerpoint/2010/main" val="4005141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B34E2-DA34-D5C3-E817-FAAAE7A57ABB}"/>
              </a:ext>
            </a:extLst>
          </p:cNvPr>
          <p:cNvSpPr>
            <a:spLocks noGrp="1"/>
          </p:cNvSpPr>
          <p:nvPr>
            <p:ph type="title"/>
          </p:nvPr>
        </p:nvSpPr>
        <p:spPr>
          <a:xfrm>
            <a:off x="1099426" y="971582"/>
            <a:ext cx="11092574" cy="3447098"/>
          </a:xfrm>
        </p:spPr>
        <p:txBody>
          <a:bodyPr/>
          <a:lstStyle/>
          <a:p>
            <a:r>
              <a:rPr lang="en-US" sz="2000" dirty="0">
                <a:latin typeface="Times New Roman" panose="02020603050405020304" pitchFamily="18" charset="0"/>
                <a:cs typeface="Times New Roman" panose="02020603050405020304" pitchFamily="18" charset="0"/>
              </a:rPr>
              <a:t>4. What is the difference in average apparent power on holidays vs working days when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humidity is above 60%?</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DayOfWeek</a:t>
            </a:r>
            <a:r>
              <a:rPr lang="en-US" sz="2000" dirty="0">
                <a:latin typeface="Times New Roman" panose="02020603050405020304" pitchFamily="18" charset="0"/>
                <a:cs typeface="Times New Roman" panose="02020603050405020304" pitchFamily="18" charset="0"/>
              </a:rPr>
              <a:t> =FORMAT (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'[date], "</a:t>
            </a:r>
            <a:r>
              <a:rPr lang="en-US" sz="2000" dirty="0" err="1">
                <a:latin typeface="Times New Roman" panose="02020603050405020304" pitchFamily="18" charset="0"/>
                <a:cs typeface="Times New Roman" panose="02020603050405020304" pitchFamily="18" charset="0"/>
              </a:rPr>
              <a:t>dddd</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AvgHumidityByDay</a:t>
            </a:r>
            <a:r>
              <a:rPr lang="en-US" sz="2000" dirty="0">
                <a:latin typeface="Times New Roman" panose="02020603050405020304" pitchFamily="18" charset="0"/>
                <a:cs typeface="Times New Roman" panose="02020603050405020304" pitchFamily="18" charset="0"/>
              </a:rPr>
              <a:t> =AVERAGE (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'[humidity]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difference in average apparent power on holidays vs working days when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humidity is above 60% is highest in </a:t>
            </a:r>
            <a:r>
              <a:rPr lang="en-US" sz="2000" b="1" dirty="0">
                <a:latin typeface="Times New Roman" panose="02020603050405020304" pitchFamily="18" charset="0"/>
                <a:cs typeface="Times New Roman" panose="02020603050405020304" pitchFamily="18" charset="0"/>
              </a:rPr>
              <a:t>RAIN </a:t>
            </a:r>
            <a:r>
              <a:rPr lang="en-US" sz="2000" dirty="0">
                <a:latin typeface="Times New Roman" panose="02020603050405020304" pitchFamily="18" charset="0"/>
                <a:cs typeface="Times New Roman" panose="02020603050405020304" pitchFamily="18" charset="0"/>
              </a:rPr>
              <a:t>and lowest in </a:t>
            </a:r>
            <a:r>
              <a:rPr lang="en-US" sz="2000" b="1" dirty="0">
                <a:latin typeface="Times New Roman" panose="02020603050405020304" pitchFamily="18" charset="0"/>
                <a:cs typeface="Times New Roman" panose="02020603050405020304" pitchFamily="18" charset="0"/>
              </a:rPr>
              <a:t>FOG .</a:t>
            </a:r>
            <a:br>
              <a:rPr lang="en-US" sz="6600" dirty="0">
                <a:latin typeface="Times New Roman" panose="02020603050405020304" pitchFamily="18"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8FA1AD29-DDB6-CA66-2C48-CF9471FA8F8C}"/>
              </a:ext>
            </a:extLst>
          </p:cNvPr>
          <p:cNvPicPr>
            <a:picLocks noChangeAspect="1"/>
          </p:cNvPicPr>
          <p:nvPr/>
        </p:nvPicPr>
        <p:blipFill>
          <a:blip r:embed="rId2"/>
          <a:stretch>
            <a:fillRect/>
          </a:stretch>
        </p:blipFill>
        <p:spPr>
          <a:xfrm>
            <a:off x="2970324" y="3721805"/>
            <a:ext cx="6969204" cy="2478511"/>
          </a:xfrm>
          <a:prstGeom prst="rect">
            <a:avLst/>
          </a:prstGeom>
        </p:spPr>
      </p:pic>
    </p:spTree>
    <p:extLst>
      <p:ext uri="{BB962C8B-B14F-4D97-AF65-F5344CB8AC3E}">
        <p14:creationId xmlns:p14="http://schemas.microsoft.com/office/powerpoint/2010/main" val="3700014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BC9D6-0793-0F0A-56C0-012F9DBE6A3B}"/>
              </a:ext>
            </a:extLst>
          </p:cNvPr>
          <p:cNvSpPr>
            <a:spLocks noGrp="1"/>
          </p:cNvSpPr>
          <p:nvPr>
            <p:ph type="title"/>
          </p:nvPr>
        </p:nvSpPr>
        <p:spPr>
          <a:xfrm>
            <a:off x="1140543" y="980725"/>
            <a:ext cx="11051457" cy="2154436"/>
          </a:xfrm>
        </p:spPr>
        <p:txBody>
          <a:bodyPr/>
          <a:lstStyle/>
          <a:p>
            <a:r>
              <a:rPr lang="en-US" sz="2000" dirty="0">
                <a:latin typeface="Times New Roman" panose="02020603050405020304" pitchFamily="18" charset="0"/>
                <a:cs typeface="Times New Roman" panose="02020603050405020304" pitchFamily="18" charset="0"/>
              </a:rPr>
              <a:t>5. What is the correlation between pressure and reactive power during early mornings (0–6 AM)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MaxVoltageDay</a:t>
            </a:r>
            <a:r>
              <a:rPr lang="en-US" sz="2000" dirty="0">
                <a:latin typeface="Times New Roman" panose="02020603050405020304" pitchFamily="18" charset="0"/>
                <a:cs typeface="Times New Roman" panose="02020603050405020304" pitchFamily="18" charset="0"/>
              </a:rPr>
              <a:t> =CALCULATE(    MAX(</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[voltage]),    ALLEXCEPT(</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[date]))</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correlation between pressure and reactive power during early mornings is </a:t>
            </a:r>
            <a:r>
              <a:rPr lang="en-US" sz="2000" b="1" dirty="0">
                <a:latin typeface="Times New Roman" panose="02020603050405020304" pitchFamily="18" charset="0"/>
                <a:cs typeface="Times New Roman" panose="02020603050405020304" pitchFamily="18" charset="0"/>
              </a:rPr>
              <a:t>stable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Throughout the weekdays.</a:t>
            </a:r>
            <a:endParaRPr lang="en-IN" sz="2000" dirty="0"/>
          </a:p>
        </p:txBody>
      </p:sp>
      <p:pic>
        <p:nvPicPr>
          <p:cNvPr id="4" name="Picture 3">
            <a:extLst>
              <a:ext uri="{FF2B5EF4-FFF2-40B4-BE49-F238E27FC236}">
                <a16:creationId xmlns:a16="http://schemas.microsoft.com/office/drawing/2014/main" id="{5AD2AD04-7D50-6E4B-FF8A-5E29ED215014}"/>
              </a:ext>
            </a:extLst>
          </p:cNvPr>
          <p:cNvPicPr>
            <a:picLocks noChangeAspect="1"/>
          </p:cNvPicPr>
          <p:nvPr/>
        </p:nvPicPr>
        <p:blipFill>
          <a:blip r:embed="rId2"/>
          <a:stretch>
            <a:fillRect/>
          </a:stretch>
        </p:blipFill>
        <p:spPr>
          <a:xfrm>
            <a:off x="4531294" y="3264604"/>
            <a:ext cx="3634831" cy="3250305"/>
          </a:xfrm>
          <a:prstGeom prst="rect">
            <a:avLst/>
          </a:prstGeom>
        </p:spPr>
      </p:pic>
    </p:spTree>
    <p:extLst>
      <p:ext uri="{BB962C8B-B14F-4D97-AF65-F5344CB8AC3E}">
        <p14:creationId xmlns:p14="http://schemas.microsoft.com/office/powerpoint/2010/main" val="719776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D2B56-B0BD-8A9A-AF99-F0CF5346E5FB}"/>
              </a:ext>
            </a:extLst>
          </p:cNvPr>
          <p:cNvSpPr>
            <a:spLocks noGrp="1"/>
          </p:cNvSpPr>
          <p:nvPr>
            <p:ph type="title"/>
          </p:nvPr>
        </p:nvSpPr>
        <p:spPr>
          <a:xfrm>
            <a:off x="1111045" y="1069216"/>
            <a:ext cx="10717161" cy="2523768"/>
          </a:xfrm>
        </p:spPr>
        <p:txBody>
          <a:bodyPr/>
          <a:lstStyle/>
          <a:p>
            <a:r>
              <a:rPr lang="en-US" sz="2000" dirty="0">
                <a:latin typeface="Times New Roman" panose="02020603050405020304" pitchFamily="18" charset="0"/>
                <a:cs typeface="Times New Roman" panose="02020603050405020304" pitchFamily="18" charset="0"/>
              </a:rPr>
              <a:t>6. What is the average humidity at different times of the day?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Avg_Humid</a:t>
            </a:r>
            <a:r>
              <a:rPr lang="en-US" sz="2000" dirty="0">
                <a:latin typeface="Times New Roman" panose="02020603050405020304" pitchFamily="18" charset="0"/>
                <a:cs typeface="Times New Roman" panose="02020603050405020304" pitchFamily="18" charset="0"/>
              </a:rPr>
              <a:t> = AVERAGE(</a:t>
            </a:r>
            <a:r>
              <a:rPr lang="en-US" sz="2000" dirty="0" err="1">
                <a:latin typeface="Times New Roman" panose="02020603050405020304" pitchFamily="18" charset="0"/>
                <a:cs typeface="Times New Roman" panose="02020603050405020304" pitchFamily="18" charset="0"/>
              </a:rPr>
              <a:t>WeatherData</a:t>
            </a:r>
            <a:r>
              <a:rPr lang="en-US" sz="2000" dirty="0">
                <a:latin typeface="Times New Roman" panose="02020603050405020304" pitchFamily="18" charset="0"/>
                <a:cs typeface="Times New Roman" panose="02020603050405020304" pitchFamily="18" charset="0"/>
              </a:rPr>
              <a:t>[Humidity])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average humidity is higher at </a:t>
            </a:r>
            <a:r>
              <a:rPr lang="en-US" sz="2000" b="1" dirty="0">
                <a:latin typeface="Times New Roman" panose="02020603050405020304" pitchFamily="18" charset="0"/>
                <a:cs typeface="Times New Roman" panose="02020603050405020304" pitchFamily="18" charset="0"/>
              </a:rPr>
              <a:t>night </a:t>
            </a:r>
            <a:r>
              <a:rPr lang="en-US" sz="2000" dirty="0">
                <a:latin typeface="Times New Roman" panose="02020603050405020304" pitchFamily="18" charset="0"/>
                <a:cs typeface="Times New Roman" panose="02020603050405020304" pitchFamily="18" charset="0"/>
              </a:rPr>
              <a:t>times and lower in </a:t>
            </a:r>
            <a:r>
              <a:rPr lang="en-US" sz="2000" b="1" dirty="0">
                <a:latin typeface="Times New Roman" panose="02020603050405020304" pitchFamily="18" charset="0"/>
                <a:cs typeface="Times New Roman" panose="02020603050405020304" pitchFamily="18" charset="0"/>
              </a:rPr>
              <a:t>Afternoon </a:t>
            </a:r>
            <a:r>
              <a:rPr lang="en-US" sz="2000" dirty="0">
                <a:latin typeface="Times New Roman" panose="02020603050405020304" pitchFamily="18" charset="0"/>
                <a:cs typeface="Times New Roman" panose="02020603050405020304" pitchFamily="18" charset="0"/>
              </a:rPr>
              <a:t>times.</a:t>
            </a:r>
            <a:br>
              <a:rPr lang="en-US" sz="660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AD22F34-EE4A-18AF-1B01-2D9A1FAE541A}"/>
              </a:ext>
            </a:extLst>
          </p:cNvPr>
          <p:cNvPicPr>
            <a:picLocks noChangeAspect="1"/>
          </p:cNvPicPr>
          <p:nvPr/>
        </p:nvPicPr>
        <p:blipFill>
          <a:blip r:embed="rId2"/>
          <a:stretch>
            <a:fillRect/>
          </a:stretch>
        </p:blipFill>
        <p:spPr>
          <a:xfrm>
            <a:off x="4143314" y="3211719"/>
            <a:ext cx="4433758" cy="2903639"/>
          </a:xfrm>
          <a:prstGeom prst="rect">
            <a:avLst/>
          </a:prstGeom>
        </p:spPr>
      </p:pic>
    </p:spTree>
    <p:extLst>
      <p:ext uri="{BB962C8B-B14F-4D97-AF65-F5344CB8AC3E}">
        <p14:creationId xmlns:p14="http://schemas.microsoft.com/office/powerpoint/2010/main" val="2401675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4C993-2555-05C5-9C0B-1C7F6A359ACC}"/>
              </a:ext>
            </a:extLst>
          </p:cNvPr>
          <p:cNvSpPr>
            <a:spLocks noGrp="1"/>
          </p:cNvSpPr>
          <p:nvPr>
            <p:ph type="title"/>
          </p:nvPr>
        </p:nvSpPr>
        <p:spPr>
          <a:xfrm>
            <a:off x="953729" y="936010"/>
            <a:ext cx="11110452" cy="3447098"/>
          </a:xfrm>
        </p:spPr>
        <p:txBody>
          <a:bodyPr/>
          <a:lstStyle/>
          <a:p>
            <a:r>
              <a:rPr lang="en-US" sz="2000" dirty="0">
                <a:latin typeface="Times New Roman" panose="02020603050405020304" pitchFamily="18" charset="0"/>
                <a:cs typeface="Times New Roman" panose="02020603050405020304" pitchFamily="18" charset="0"/>
              </a:rPr>
              <a:t>7. Identify time slots (hour ranges) with low voltage (&lt; 110V) during hot and humid days(temp &gt;  32 C , humidity &gt;75%).</a:t>
            </a:r>
            <a:br>
              <a:rPr lang="en-US" sz="2000"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AvgTempByPressure</a:t>
            </a:r>
            <a:r>
              <a:rPr lang="en-US" sz="2000" dirty="0">
                <a:latin typeface="Times New Roman" panose="02020603050405020304" pitchFamily="18" charset="0"/>
                <a:cs typeface="Times New Roman" panose="02020603050405020304" pitchFamily="18" charset="0"/>
              </a:rPr>
              <a:t> =AVERAGE (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'[temperature]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On hot and humid days (Temp &gt; 32°C,Humidity &gt; 75%), the low voltage (&lt;110V) occurs mainly in afternoon to evening slots (1 PM – 7 PM), indicating peak load stress during high demand hours.</a:t>
            </a:r>
            <a:br>
              <a:rPr lang="en-US" sz="6600" dirty="0">
                <a:latin typeface="Times New Roman" panose="02020603050405020304" pitchFamily="18"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B2A33B0A-EEFF-A91A-6809-B724816DB2C1}"/>
              </a:ext>
            </a:extLst>
          </p:cNvPr>
          <p:cNvPicPr>
            <a:picLocks noChangeAspect="1"/>
          </p:cNvPicPr>
          <p:nvPr/>
        </p:nvPicPr>
        <p:blipFill>
          <a:blip r:embed="rId2"/>
          <a:stretch>
            <a:fillRect/>
          </a:stretch>
        </p:blipFill>
        <p:spPr>
          <a:xfrm>
            <a:off x="3244940" y="3799289"/>
            <a:ext cx="6209956" cy="2076292"/>
          </a:xfrm>
          <a:prstGeom prst="rect">
            <a:avLst/>
          </a:prstGeom>
        </p:spPr>
      </p:pic>
    </p:spTree>
    <p:extLst>
      <p:ext uri="{BB962C8B-B14F-4D97-AF65-F5344CB8AC3E}">
        <p14:creationId xmlns:p14="http://schemas.microsoft.com/office/powerpoint/2010/main" val="174468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9BB4A-ED27-7DDC-9A35-8836294CA2D2}"/>
              </a:ext>
            </a:extLst>
          </p:cNvPr>
          <p:cNvSpPr>
            <a:spLocks noGrp="1"/>
          </p:cNvSpPr>
          <p:nvPr>
            <p:ph type="title"/>
          </p:nvPr>
        </p:nvSpPr>
        <p:spPr>
          <a:xfrm>
            <a:off x="970642" y="875277"/>
            <a:ext cx="10776154" cy="2769989"/>
          </a:xfrm>
        </p:spPr>
        <p:txBody>
          <a:bodyPr/>
          <a:lstStyle/>
          <a:p>
            <a:r>
              <a:rPr lang="en-US" sz="2000" dirty="0">
                <a:latin typeface="Times New Roman" panose="02020603050405020304" pitchFamily="18" charset="0"/>
                <a:cs typeface="Times New Roman" panose="02020603050405020304" pitchFamily="18" charset="0"/>
              </a:rPr>
              <a:t>8. How does power factor change on days with both low wind speed(speed&lt;3)</a:t>
            </a:r>
            <a:r>
              <a:rPr lang="en-IN" sz="2000" dirty="0">
                <a:latin typeface="Times New Roman" panose="02020603050405020304" pitchFamily="18" charset="0"/>
                <a:cs typeface="Times New Roman" panose="02020603050405020304" pitchFamily="18" charset="0"/>
              </a:rPr>
              <a:t> and low atmospheric pressure(pressure&lt;1000)</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AvgPowerFactorPerDay</a:t>
            </a:r>
            <a:r>
              <a:rPr lang="en-US" sz="2000" dirty="0">
                <a:latin typeface="Times New Roman" panose="02020603050405020304" pitchFamily="18" charset="0"/>
                <a:cs typeface="Times New Roman" panose="02020603050405020304" pitchFamily="18" charset="0"/>
              </a:rPr>
              <a:t> =AVERAGE(</a:t>
            </a:r>
            <a:r>
              <a:rPr lang="en-US" sz="2000" dirty="0" err="1">
                <a:latin typeface="Times New Roman" panose="02020603050405020304" pitchFamily="18" charset="0"/>
                <a:cs typeface="Times New Roman" panose="02020603050405020304" pitchFamily="18" charset="0"/>
              </a:rPr>
              <a:t>energy_weather_raw_data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power_factor</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During periods of low wind speed (&lt;3) and low atmospheric pressure (&lt;1000), the power factor remains fairly stable (~0.85–0.86), showing no major deterioration. This suggests that power quality is not significantly impacted by these weather conditions</a:t>
            </a:r>
            <a:r>
              <a:rPr lang="en-US" sz="2000" dirty="0"/>
              <a:t>.</a:t>
            </a:r>
            <a:endParaRPr lang="en-IN" sz="2000" dirty="0"/>
          </a:p>
        </p:txBody>
      </p:sp>
      <p:pic>
        <p:nvPicPr>
          <p:cNvPr id="4" name="Picture 3">
            <a:extLst>
              <a:ext uri="{FF2B5EF4-FFF2-40B4-BE49-F238E27FC236}">
                <a16:creationId xmlns:a16="http://schemas.microsoft.com/office/drawing/2014/main" id="{1B119124-C370-EEB9-89AE-AA70BF090BFA}"/>
              </a:ext>
            </a:extLst>
          </p:cNvPr>
          <p:cNvPicPr>
            <a:picLocks noChangeAspect="1"/>
          </p:cNvPicPr>
          <p:nvPr/>
        </p:nvPicPr>
        <p:blipFill>
          <a:blip r:embed="rId2"/>
          <a:stretch>
            <a:fillRect/>
          </a:stretch>
        </p:blipFill>
        <p:spPr>
          <a:xfrm>
            <a:off x="4483706" y="3645266"/>
            <a:ext cx="2877214" cy="2540588"/>
          </a:xfrm>
          <a:prstGeom prst="rect">
            <a:avLst/>
          </a:prstGeom>
        </p:spPr>
      </p:pic>
    </p:spTree>
    <p:extLst>
      <p:ext uri="{BB962C8B-B14F-4D97-AF65-F5344CB8AC3E}">
        <p14:creationId xmlns:p14="http://schemas.microsoft.com/office/powerpoint/2010/main" val="213992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635F31-038C-AF90-4C70-21D50BF6032E}"/>
              </a:ext>
            </a:extLst>
          </p:cNvPr>
          <p:cNvSpPr txBox="1"/>
          <p:nvPr/>
        </p:nvSpPr>
        <p:spPr>
          <a:xfrm>
            <a:off x="1219200" y="1032387"/>
            <a:ext cx="10373032"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9. How does the average active power vary across different hours of the day?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DAX QUERY : </a:t>
            </a:r>
            <a:r>
              <a:rPr lang="en-US" sz="2000" dirty="0">
                <a:latin typeface="Times New Roman" panose="02020603050405020304" pitchFamily="18" charset="0"/>
                <a:cs typeface="Times New Roman" panose="02020603050405020304" pitchFamily="18" charset="0"/>
              </a:rPr>
              <a:t>Hour =HOUR(</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[date])</a:t>
            </a:r>
          </a:p>
          <a:p>
            <a:r>
              <a:rPr lang="en-US" sz="2000" dirty="0" err="1">
                <a:latin typeface="Times New Roman" panose="02020603050405020304" pitchFamily="18" charset="0"/>
                <a:cs typeface="Times New Roman" panose="02020603050405020304" pitchFamily="18" charset="0"/>
              </a:rPr>
              <a:t>AvgActivePower_Hour</a:t>
            </a:r>
            <a:r>
              <a:rPr lang="en-US" sz="2000" dirty="0">
                <a:latin typeface="Times New Roman" panose="02020603050405020304" pitchFamily="18" charset="0"/>
                <a:cs typeface="Times New Roman" panose="02020603050405020304" pitchFamily="18" charset="0"/>
              </a:rPr>
              <a:t> =AVERAGE(</a:t>
            </a:r>
            <a:r>
              <a:rPr lang="en-US" sz="2000" dirty="0" err="1">
                <a:latin typeface="Times New Roman" panose="02020603050405020304" pitchFamily="18" charset="0"/>
                <a:cs typeface="Times New Roman" panose="02020603050405020304" pitchFamily="18" charset="0"/>
              </a:rPr>
              <a:t>energy_weather_raw_data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active_power</a:t>
            </a:r>
            <a:r>
              <a:rPr lang="en-US" sz="2000" dirty="0">
                <a:latin typeface="Times New Roman" panose="02020603050405020304" pitchFamily="18" charset="0"/>
                <a:cs typeface="Times New Roman" panose="02020603050405020304" pitchFamily="18" charset="0"/>
              </a:rPr>
              <a:t>])</a:t>
            </a:r>
          </a:p>
          <a:p>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Active power consumption is time-</a:t>
            </a:r>
            <a:r>
              <a:rPr lang="en-US" sz="2000" dirty="0" err="1">
                <a:latin typeface="Times New Roman" panose="02020603050405020304" pitchFamily="18" charset="0"/>
                <a:cs typeface="Times New Roman" panose="02020603050405020304" pitchFamily="18" charset="0"/>
              </a:rPr>
              <a:t>dependent,lowest</a:t>
            </a:r>
            <a:r>
              <a:rPr lang="en-US" sz="2000" dirty="0">
                <a:latin typeface="Times New Roman" panose="02020603050405020304" pitchFamily="18" charset="0"/>
                <a:cs typeface="Times New Roman" panose="02020603050405020304" pitchFamily="18" charset="0"/>
              </a:rPr>
              <a:t> during early morning (low demand) and highest during late morning and evening hours (peak demand).</a:t>
            </a:r>
          </a:p>
          <a:p>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3C6BF69-2B75-7E3C-2884-E1ED82E2E022}"/>
              </a:ext>
            </a:extLst>
          </p:cNvPr>
          <p:cNvPicPr>
            <a:picLocks noChangeAspect="1"/>
          </p:cNvPicPr>
          <p:nvPr/>
        </p:nvPicPr>
        <p:blipFill>
          <a:blip r:embed="rId2"/>
          <a:stretch>
            <a:fillRect/>
          </a:stretch>
        </p:blipFill>
        <p:spPr>
          <a:xfrm>
            <a:off x="3143768" y="4177432"/>
            <a:ext cx="5868946" cy="1720448"/>
          </a:xfrm>
          <a:prstGeom prst="rect">
            <a:avLst/>
          </a:prstGeom>
        </p:spPr>
      </p:pic>
    </p:spTree>
    <p:extLst>
      <p:ext uri="{BB962C8B-B14F-4D97-AF65-F5344CB8AC3E}">
        <p14:creationId xmlns:p14="http://schemas.microsoft.com/office/powerpoint/2010/main" val="147753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E81C7-C39F-0B7A-7F43-F742B58D8D5D}"/>
              </a:ext>
            </a:extLst>
          </p:cNvPr>
          <p:cNvSpPr>
            <a:spLocks noGrp="1"/>
          </p:cNvSpPr>
          <p:nvPr>
            <p:ph type="title"/>
          </p:nvPr>
        </p:nvSpPr>
        <p:spPr>
          <a:xfrm>
            <a:off x="1307690" y="1009533"/>
            <a:ext cx="10785987" cy="3447098"/>
          </a:xfrm>
        </p:spPr>
        <p:txBody>
          <a:bodyPr/>
          <a:lstStyle/>
          <a:p>
            <a:r>
              <a:rPr lang="en-US" sz="2000" dirty="0">
                <a:latin typeface="Times New Roman" panose="02020603050405020304" pitchFamily="18" charset="0"/>
                <a:cs typeface="Times New Roman" panose="02020603050405020304" pitchFamily="18" charset="0"/>
              </a:rPr>
              <a:t>10. How does the average atmospheric pressure vary across different weather conditions?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WeatherType</a:t>
            </a:r>
            <a:r>
              <a:rPr lang="en-US" sz="2000" dirty="0">
                <a:latin typeface="Times New Roman" panose="02020603050405020304" pitchFamily="18" charset="0"/>
                <a:cs typeface="Times New Roman" panose="02020603050405020304" pitchFamily="18" charset="0"/>
              </a:rPr>
              <a:t> =IF(</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[main] =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"Rain", "</a:t>
            </a:r>
            <a:r>
              <a:rPr lang="en-US" sz="2000" dirty="0" err="1">
                <a:latin typeface="Times New Roman" panose="02020603050405020304" pitchFamily="18" charset="0"/>
                <a:cs typeface="Times New Roman" panose="02020603050405020304" pitchFamily="18" charset="0"/>
              </a:rPr>
              <a:t>Rainy",IF</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[main]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"Clear", "Clear", "Other"))</a:t>
            </a:r>
            <a:r>
              <a:rPr lang="en-US" sz="2000" dirty="0" err="1">
                <a:latin typeface="Times New Roman" panose="02020603050405020304" pitchFamily="18" charset="0"/>
                <a:cs typeface="Times New Roman" panose="02020603050405020304" pitchFamily="18" charset="0"/>
              </a:rPr>
              <a:t>AvgPressure</a:t>
            </a:r>
            <a:r>
              <a:rPr lang="en-US" sz="2000" dirty="0">
                <a:latin typeface="Times New Roman" panose="02020603050405020304" pitchFamily="18" charset="0"/>
                <a:cs typeface="Times New Roman" panose="02020603050405020304" pitchFamily="18" charset="0"/>
              </a:rPr>
              <a:t>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[pressure])</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Average pressure is highest during rainy weather, moderate in other conditions, and lowest during clear weather.</a:t>
            </a:r>
            <a:br>
              <a:rPr lang="en-IN" sz="660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0E984B8-27F2-8979-AF2B-0FA4465B7D59}"/>
              </a:ext>
            </a:extLst>
          </p:cNvPr>
          <p:cNvPicPr>
            <a:picLocks noChangeAspect="1"/>
          </p:cNvPicPr>
          <p:nvPr/>
        </p:nvPicPr>
        <p:blipFill>
          <a:blip r:embed="rId2"/>
          <a:stretch>
            <a:fillRect/>
          </a:stretch>
        </p:blipFill>
        <p:spPr>
          <a:xfrm>
            <a:off x="3896130" y="3822290"/>
            <a:ext cx="4589502" cy="2252744"/>
          </a:xfrm>
          <a:prstGeom prst="rect">
            <a:avLst/>
          </a:prstGeom>
        </p:spPr>
      </p:pic>
    </p:spTree>
    <p:extLst>
      <p:ext uri="{BB962C8B-B14F-4D97-AF65-F5344CB8AC3E}">
        <p14:creationId xmlns:p14="http://schemas.microsoft.com/office/powerpoint/2010/main" val="3195385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412D-8B1F-0605-938E-3E83B43D1B8F}"/>
              </a:ext>
            </a:extLst>
          </p:cNvPr>
          <p:cNvSpPr>
            <a:spLocks noGrp="1"/>
          </p:cNvSpPr>
          <p:nvPr>
            <p:ph type="title"/>
          </p:nvPr>
        </p:nvSpPr>
        <p:spPr>
          <a:xfrm>
            <a:off x="1431237" y="728711"/>
            <a:ext cx="10121666" cy="6093976"/>
          </a:xfrm>
        </p:spPr>
        <p:txBody>
          <a:bodyPr/>
          <a:lstStyle/>
          <a:p>
            <a:r>
              <a:rPr lang="en-US" sz="2000" dirty="0">
                <a:latin typeface="Times New Roman" panose="02020603050405020304" pitchFamily="18" charset="0"/>
                <a:cs typeface="Times New Roman" panose="02020603050405020304" pitchFamily="18" charset="0"/>
              </a:rPr>
              <a:t>11.What is the most frequent weather condition based on the ‘main’ column?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WeatherConditionCount</a:t>
            </a:r>
            <a:r>
              <a:rPr lang="en-US" sz="2000" dirty="0">
                <a:latin typeface="Times New Roman" panose="02020603050405020304" pitchFamily="18" charset="0"/>
                <a:cs typeface="Times New Roman" panose="02020603050405020304" pitchFamily="18" charset="0"/>
              </a:rPr>
              <a:t> = COUNTROWS('</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most frequent weather condition based in ‘main’ column is </a:t>
            </a:r>
            <a:r>
              <a:rPr lang="en-US" sz="2000" b="1" dirty="0">
                <a:latin typeface="Times New Roman" panose="02020603050405020304" pitchFamily="18" charset="0"/>
                <a:cs typeface="Times New Roman" panose="02020603050405020304" pitchFamily="18" charset="0"/>
              </a:rPr>
              <a:t>clouds</a:t>
            </a:r>
            <a:r>
              <a:rPr lang="en-US" sz="2000" dirty="0">
                <a:latin typeface="Times New Roman" panose="02020603050405020304" pitchFamily="18" charset="0"/>
                <a:cs typeface="Times New Roman" panose="02020603050405020304" pitchFamily="18" charset="0"/>
              </a:rPr>
              <a:t> with around 0.29M data.</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endParaRPr lang="en-IN" sz="3200" dirty="0"/>
          </a:p>
        </p:txBody>
      </p:sp>
      <p:pic>
        <p:nvPicPr>
          <p:cNvPr id="5" name="Picture 4">
            <a:extLst>
              <a:ext uri="{FF2B5EF4-FFF2-40B4-BE49-F238E27FC236}">
                <a16:creationId xmlns:a16="http://schemas.microsoft.com/office/drawing/2014/main" id="{204F4D10-4743-36DB-A34E-6ED77AEF7F8B}"/>
              </a:ext>
            </a:extLst>
          </p:cNvPr>
          <p:cNvPicPr>
            <a:picLocks noChangeAspect="1"/>
          </p:cNvPicPr>
          <p:nvPr/>
        </p:nvPicPr>
        <p:blipFill>
          <a:blip r:embed="rId2"/>
          <a:stretch>
            <a:fillRect/>
          </a:stretch>
        </p:blipFill>
        <p:spPr>
          <a:xfrm>
            <a:off x="4166498" y="3246120"/>
            <a:ext cx="3249285" cy="3018761"/>
          </a:xfrm>
          <a:prstGeom prst="rect">
            <a:avLst/>
          </a:prstGeom>
        </p:spPr>
      </p:pic>
    </p:spTree>
    <p:extLst>
      <p:ext uri="{BB962C8B-B14F-4D97-AF65-F5344CB8AC3E}">
        <p14:creationId xmlns:p14="http://schemas.microsoft.com/office/powerpoint/2010/main" val="2638153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7737-DE64-7E7D-8703-AD4B4C4DC694}"/>
              </a:ext>
            </a:extLst>
          </p:cNvPr>
          <p:cNvSpPr>
            <a:spLocks noGrp="1"/>
          </p:cNvSpPr>
          <p:nvPr>
            <p:ph type="title"/>
          </p:nvPr>
        </p:nvSpPr>
        <p:spPr>
          <a:xfrm rot="10800000" flipV="1">
            <a:off x="1433946" y="648548"/>
            <a:ext cx="11305307" cy="2154436"/>
          </a:xfrm>
        </p:spPr>
        <p:txBody>
          <a:bodyPr/>
          <a:lstStyle/>
          <a:p>
            <a:r>
              <a:rPr lang="en-US" sz="2000" dirty="0">
                <a:latin typeface="Times New Roman" panose="02020603050405020304" pitchFamily="18" charset="0"/>
                <a:cs typeface="Times New Roman" panose="02020603050405020304" pitchFamily="18" charset="0"/>
              </a:rPr>
              <a:t>12.What is the most common sky condition based on the ‘description’ column?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SkyConditionCount</a:t>
            </a:r>
            <a:r>
              <a:rPr lang="en-US" sz="2000" dirty="0">
                <a:latin typeface="Times New Roman" panose="02020603050405020304" pitchFamily="18" charset="0"/>
                <a:cs typeface="Times New Roman" panose="02020603050405020304" pitchFamily="18" charset="0"/>
              </a:rPr>
              <a:t> = COUNTROWS('</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most common sky condition based on ‘description’ column is </a:t>
            </a:r>
            <a:r>
              <a:rPr lang="en-US" sz="2000" b="1" dirty="0">
                <a:latin typeface="Times New Roman" panose="02020603050405020304" pitchFamily="18" charset="0"/>
                <a:cs typeface="Times New Roman" panose="02020603050405020304" pitchFamily="18" charset="0"/>
              </a:rPr>
              <a:t>clear sky</a:t>
            </a:r>
            <a:r>
              <a:rPr lang="en-US" sz="2000" dirty="0">
                <a:latin typeface="Times New Roman" panose="02020603050405020304" pitchFamily="18" charset="0"/>
                <a:cs typeface="Times New Roman" panose="02020603050405020304" pitchFamily="18" charset="0"/>
              </a:rPr>
              <a:t>.</a:t>
            </a:r>
            <a:br>
              <a:rPr lang="en-IN" sz="2000" dirty="0"/>
            </a:br>
            <a:endParaRPr lang="en-IN" sz="2000" dirty="0"/>
          </a:p>
        </p:txBody>
      </p:sp>
      <p:pic>
        <p:nvPicPr>
          <p:cNvPr id="4" name="Picture 3">
            <a:extLst>
              <a:ext uri="{FF2B5EF4-FFF2-40B4-BE49-F238E27FC236}">
                <a16:creationId xmlns:a16="http://schemas.microsoft.com/office/drawing/2014/main" id="{7D5CE540-3B55-4417-AB3A-43C9FBCF024A}"/>
              </a:ext>
            </a:extLst>
          </p:cNvPr>
          <p:cNvPicPr>
            <a:picLocks noChangeAspect="1"/>
          </p:cNvPicPr>
          <p:nvPr/>
        </p:nvPicPr>
        <p:blipFill>
          <a:blip r:embed="rId2"/>
          <a:stretch>
            <a:fillRect/>
          </a:stretch>
        </p:blipFill>
        <p:spPr>
          <a:xfrm>
            <a:off x="4028861" y="3032308"/>
            <a:ext cx="4081867" cy="3093626"/>
          </a:xfrm>
          <a:prstGeom prst="rect">
            <a:avLst/>
          </a:prstGeom>
        </p:spPr>
      </p:pic>
    </p:spTree>
    <p:extLst>
      <p:ext uri="{BB962C8B-B14F-4D97-AF65-F5344CB8AC3E}">
        <p14:creationId xmlns:p14="http://schemas.microsoft.com/office/powerpoint/2010/main" val="3036693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0FE76-CAFE-15B3-AA18-9D2B39F2775B}"/>
              </a:ext>
            </a:extLst>
          </p:cNvPr>
          <p:cNvSpPr>
            <a:spLocks noGrp="1"/>
          </p:cNvSpPr>
          <p:nvPr>
            <p:ph type="title"/>
          </p:nvPr>
        </p:nvSpPr>
        <p:spPr>
          <a:xfrm>
            <a:off x="1393624" y="992385"/>
            <a:ext cx="9883905" cy="4308872"/>
          </a:xfrm>
        </p:spPr>
        <p:txBody>
          <a:bodyPr/>
          <a:lstStyle/>
          <a:p>
            <a:r>
              <a:rPr lang="en-US" sz="2000" dirty="0">
                <a:latin typeface="Times New Roman" panose="02020603050405020304" pitchFamily="18" charset="0"/>
                <a:cs typeface="Times New Roman" panose="02020603050405020304" pitchFamily="18" charset="0"/>
              </a:rPr>
              <a:t>13.How often do extreme weather events like thunderstorms and heavy rain occur?</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ExtremeWeatherCount</a:t>
            </a:r>
            <a:r>
              <a:rPr lang="en-US" sz="2000" dirty="0">
                <a:latin typeface="Times New Roman" panose="02020603050405020304" pitchFamily="18" charset="0"/>
                <a:cs typeface="Times New Roman" panose="02020603050405020304" pitchFamily="18" charset="0"/>
              </a:rPr>
              <a:t> = CALCULATE(    COUNTROWS('</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'[main] IN {"Thunderstorm", "Rain"},    SEARCH("heavy",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'[description], 1, 0) &gt; 0)</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dirty="0"/>
          </a:p>
        </p:txBody>
      </p:sp>
      <p:pic>
        <p:nvPicPr>
          <p:cNvPr id="6" name="Picture 5">
            <a:extLst>
              <a:ext uri="{FF2B5EF4-FFF2-40B4-BE49-F238E27FC236}">
                <a16:creationId xmlns:a16="http://schemas.microsoft.com/office/drawing/2014/main" id="{B5B0C9E9-C24E-508C-06F8-69F4A209AFEA}"/>
              </a:ext>
            </a:extLst>
          </p:cNvPr>
          <p:cNvPicPr>
            <a:picLocks noChangeAspect="1"/>
          </p:cNvPicPr>
          <p:nvPr/>
        </p:nvPicPr>
        <p:blipFill>
          <a:blip r:embed="rId2"/>
          <a:stretch>
            <a:fillRect/>
          </a:stretch>
        </p:blipFill>
        <p:spPr>
          <a:xfrm>
            <a:off x="3999712" y="3651608"/>
            <a:ext cx="4311828" cy="1679344"/>
          </a:xfrm>
          <a:prstGeom prst="rect">
            <a:avLst/>
          </a:prstGeom>
        </p:spPr>
      </p:pic>
    </p:spTree>
    <p:extLst>
      <p:ext uri="{BB962C8B-B14F-4D97-AF65-F5344CB8AC3E}">
        <p14:creationId xmlns:p14="http://schemas.microsoft.com/office/powerpoint/2010/main" val="1839170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3B229-17FF-FBDD-E71B-2D4A597AB1EE}"/>
              </a:ext>
            </a:extLst>
          </p:cNvPr>
          <p:cNvSpPr>
            <a:spLocks noGrp="1"/>
          </p:cNvSpPr>
          <p:nvPr>
            <p:ph type="title"/>
          </p:nvPr>
        </p:nvSpPr>
        <p:spPr>
          <a:xfrm>
            <a:off x="1418416" y="755271"/>
            <a:ext cx="9860972" cy="2154436"/>
          </a:xfrm>
        </p:spPr>
        <p:txBody>
          <a:bodyPr/>
          <a:lstStyle/>
          <a:p>
            <a:r>
              <a:rPr lang="en-US" sz="2000" dirty="0">
                <a:latin typeface="Times New Roman" panose="02020603050405020304" pitchFamily="18" charset="0"/>
                <a:cs typeface="Times New Roman" panose="02020603050405020304" pitchFamily="18" charset="0"/>
              </a:rPr>
              <a:t>14.How does </a:t>
            </a:r>
            <a:r>
              <a:rPr lang="en-US" sz="2000" dirty="0" err="1">
                <a:latin typeface="Times New Roman" panose="02020603050405020304" pitchFamily="18" charset="0"/>
                <a:cs typeface="Times New Roman" panose="02020603050405020304" pitchFamily="18" charset="0"/>
              </a:rPr>
              <a:t>temp_max</a:t>
            </a:r>
            <a:r>
              <a:rPr lang="en-US" sz="2000" dirty="0">
                <a:latin typeface="Times New Roman" panose="02020603050405020304" pitchFamily="18" charset="0"/>
                <a:cs typeface="Times New Roman" panose="02020603050405020304" pitchFamily="18" charset="0"/>
              </a:rPr>
              <a:t> vary between ‘Clear’ and ‘Clouds’ conditions?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AvgTempMax</a:t>
            </a:r>
            <a:r>
              <a:rPr lang="en-US" sz="2000" dirty="0">
                <a:latin typeface="Times New Roman" panose="02020603050405020304" pitchFamily="18" charset="0"/>
                <a:cs typeface="Times New Roman" panose="02020603050405020304" pitchFamily="18" charset="0"/>
              </a:rPr>
              <a:t> =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temp_max</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temp_max</a:t>
            </a:r>
            <a:r>
              <a:rPr lang="en-US" sz="2000" dirty="0">
                <a:latin typeface="Times New Roman" panose="02020603050405020304" pitchFamily="18" charset="0"/>
                <a:cs typeface="Times New Roman" panose="02020603050405020304" pitchFamily="18" charset="0"/>
              </a:rPr>
              <a:t> is comparatively </a:t>
            </a:r>
            <a:r>
              <a:rPr lang="en-US" sz="2000" b="1" dirty="0">
                <a:latin typeface="Times New Roman" panose="02020603050405020304" pitchFamily="18" charset="0"/>
                <a:cs typeface="Times New Roman" panose="02020603050405020304" pitchFamily="18" charset="0"/>
              </a:rPr>
              <a:t>higher </a:t>
            </a:r>
            <a:r>
              <a:rPr lang="en-US" sz="2000" dirty="0">
                <a:latin typeface="Times New Roman" panose="02020603050405020304" pitchFamily="18" charset="0"/>
                <a:cs typeface="Times New Roman" panose="02020603050405020304" pitchFamily="18" charset="0"/>
              </a:rPr>
              <a:t>in clear condition than clouds condition</a:t>
            </a:r>
            <a:br>
              <a:rPr lang="en-US" sz="2000" dirty="0">
                <a:latin typeface="Times New Roman" panose="02020603050405020304" pitchFamily="18" charset="0"/>
                <a:cs typeface="Times New Roman" panose="02020603050405020304" pitchFamily="18" charset="0"/>
              </a:rPr>
            </a:br>
            <a:endParaRPr lang="en-IN" sz="2000" dirty="0"/>
          </a:p>
        </p:txBody>
      </p:sp>
      <p:pic>
        <p:nvPicPr>
          <p:cNvPr id="4" name="Picture 3">
            <a:extLst>
              <a:ext uri="{FF2B5EF4-FFF2-40B4-BE49-F238E27FC236}">
                <a16:creationId xmlns:a16="http://schemas.microsoft.com/office/drawing/2014/main" id="{D24D4723-3C04-E463-5CFD-C8BF4A1DB464}"/>
              </a:ext>
            </a:extLst>
          </p:cNvPr>
          <p:cNvPicPr>
            <a:picLocks noChangeAspect="1"/>
          </p:cNvPicPr>
          <p:nvPr/>
        </p:nvPicPr>
        <p:blipFill>
          <a:blip r:embed="rId2"/>
          <a:stretch>
            <a:fillRect/>
          </a:stretch>
        </p:blipFill>
        <p:spPr>
          <a:xfrm>
            <a:off x="4042064" y="2909707"/>
            <a:ext cx="3858351" cy="3418849"/>
          </a:xfrm>
          <a:prstGeom prst="rect">
            <a:avLst/>
          </a:prstGeom>
        </p:spPr>
      </p:pic>
    </p:spTree>
    <p:extLst>
      <p:ext uri="{BB962C8B-B14F-4D97-AF65-F5344CB8AC3E}">
        <p14:creationId xmlns:p14="http://schemas.microsoft.com/office/powerpoint/2010/main" val="2770777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C0132-E724-53E9-2509-E3288A8A1F05}"/>
              </a:ext>
            </a:extLst>
          </p:cNvPr>
          <p:cNvSpPr>
            <a:spLocks noGrp="1"/>
          </p:cNvSpPr>
          <p:nvPr>
            <p:ph type="title"/>
          </p:nvPr>
        </p:nvSpPr>
        <p:spPr>
          <a:xfrm>
            <a:off x="1217468" y="874583"/>
            <a:ext cx="9757063" cy="2154436"/>
          </a:xfrm>
        </p:spPr>
        <p:txBody>
          <a:bodyPr/>
          <a:lstStyle/>
          <a:p>
            <a:r>
              <a:rPr lang="en-US" sz="2000" dirty="0">
                <a:latin typeface="Times New Roman" panose="02020603050405020304" pitchFamily="18" charset="0"/>
                <a:cs typeface="Times New Roman" panose="02020603050405020304" pitchFamily="18" charset="0"/>
              </a:rPr>
              <a:t>15.Is humidity higher during ‘</a:t>
            </a:r>
            <a:r>
              <a:rPr lang="en-US" sz="2000" dirty="0" err="1">
                <a:latin typeface="Times New Roman" panose="02020603050405020304" pitchFamily="18" charset="0"/>
                <a:cs typeface="Times New Roman" panose="02020603050405020304" pitchFamily="18" charset="0"/>
              </a:rPr>
              <a:t>Mist’,‘Fog</a:t>
            </a:r>
            <a:r>
              <a:rPr lang="en-US" sz="2000" dirty="0">
                <a:latin typeface="Times New Roman" panose="02020603050405020304" pitchFamily="18" charset="0"/>
                <a:cs typeface="Times New Roman" panose="02020603050405020304" pitchFamily="18" charset="0"/>
              </a:rPr>
              <a:t>’, or ‘Haze’ conditions?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AvgHumidity</a:t>
            </a:r>
            <a:r>
              <a:rPr lang="en-US" sz="2000" dirty="0">
                <a:latin typeface="Times New Roman" panose="02020603050405020304" pitchFamily="18" charset="0"/>
                <a:cs typeface="Times New Roman" panose="02020603050405020304" pitchFamily="18" charset="0"/>
              </a:rPr>
              <a:t> =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'[humidity])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humidity is higher during </a:t>
            </a:r>
            <a:r>
              <a:rPr lang="en-US" sz="2000" b="1" dirty="0">
                <a:latin typeface="Times New Roman" panose="02020603050405020304" pitchFamily="18" charset="0"/>
                <a:cs typeface="Times New Roman" panose="02020603050405020304" pitchFamily="18" charset="0"/>
              </a:rPr>
              <a:t>Fog</a:t>
            </a:r>
            <a:r>
              <a:rPr lang="en-US" sz="2000" dirty="0">
                <a:latin typeface="Times New Roman" panose="02020603050405020304" pitchFamily="18" charset="0"/>
                <a:cs typeface="Times New Roman" panose="02020603050405020304" pitchFamily="18" charset="0"/>
              </a:rPr>
              <a:t> condition than Mist and Haze.</a:t>
            </a:r>
            <a:endParaRPr lang="en-IN" sz="2000" dirty="0"/>
          </a:p>
        </p:txBody>
      </p:sp>
      <p:pic>
        <p:nvPicPr>
          <p:cNvPr id="4" name="Picture 3">
            <a:extLst>
              <a:ext uri="{FF2B5EF4-FFF2-40B4-BE49-F238E27FC236}">
                <a16:creationId xmlns:a16="http://schemas.microsoft.com/office/drawing/2014/main" id="{BC424205-4EC3-F4DE-B708-5676AC0A07E8}"/>
              </a:ext>
            </a:extLst>
          </p:cNvPr>
          <p:cNvPicPr>
            <a:picLocks noChangeAspect="1"/>
          </p:cNvPicPr>
          <p:nvPr/>
        </p:nvPicPr>
        <p:blipFill>
          <a:blip r:embed="rId2"/>
          <a:stretch>
            <a:fillRect/>
          </a:stretch>
        </p:blipFill>
        <p:spPr>
          <a:xfrm>
            <a:off x="3763586" y="3335066"/>
            <a:ext cx="4575741" cy="3071345"/>
          </a:xfrm>
          <a:prstGeom prst="rect">
            <a:avLst/>
          </a:prstGeom>
        </p:spPr>
      </p:pic>
    </p:spTree>
    <p:extLst>
      <p:ext uri="{BB962C8B-B14F-4D97-AF65-F5344CB8AC3E}">
        <p14:creationId xmlns:p14="http://schemas.microsoft.com/office/powerpoint/2010/main" val="3360536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CE3955-7D6F-2A9B-384B-B69DCCEF5BD5}"/>
              </a:ext>
            </a:extLst>
          </p:cNvPr>
          <p:cNvSpPr>
            <a:spLocks noGrp="1"/>
          </p:cNvSpPr>
          <p:nvPr>
            <p:ph type="title"/>
          </p:nvPr>
        </p:nvSpPr>
        <p:spPr>
          <a:xfrm>
            <a:off x="1250486" y="695404"/>
            <a:ext cx="10609005" cy="3046988"/>
          </a:xfrm>
        </p:spPr>
        <p:txBody>
          <a:bodyPr/>
          <a:lstStyle/>
          <a:p>
            <a:r>
              <a:rPr lang="en-US" sz="1800" dirty="0">
                <a:latin typeface="Times New Roman" panose="02020603050405020304" pitchFamily="18" charset="0"/>
                <a:cs typeface="Times New Roman" panose="02020603050405020304" pitchFamily="18" charset="0"/>
              </a:rPr>
              <a:t>16.How do clear sky and broken clouds temperatures compare at 9 AM?</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DAX QUERY :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Hour = HOUR('</a:t>
            </a:r>
            <a:r>
              <a:rPr lang="en-US" sz="1800" dirty="0" err="1">
                <a:latin typeface="Times New Roman" panose="02020603050405020304" pitchFamily="18" charset="0"/>
                <a:cs typeface="Times New Roman" panose="02020603050405020304" pitchFamily="18" charset="0"/>
              </a:rPr>
              <a:t>energy_weather_raw_data</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dt_iso</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AvgTempAt9AM = CALCULATE(    AVERAGE('</a:t>
            </a:r>
            <a:r>
              <a:rPr lang="en-US" sz="1800" dirty="0" err="1">
                <a:latin typeface="Times New Roman" panose="02020603050405020304" pitchFamily="18" charset="0"/>
                <a:cs typeface="Times New Roman" panose="02020603050405020304" pitchFamily="18" charset="0"/>
              </a:rPr>
              <a:t>energy_weather_raw_data</a:t>
            </a:r>
            <a:r>
              <a:rPr lang="en-US" sz="1800" dirty="0">
                <a:latin typeface="Times New Roman" panose="02020603050405020304" pitchFamily="18" charset="0"/>
                <a:cs typeface="Times New Roman" panose="02020603050405020304" pitchFamily="18" charset="0"/>
              </a:rPr>
              <a:t>'[temp]),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energy_weather_raw_data</a:t>
            </a:r>
            <a:r>
              <a:rPr lang="en-US" sz="1800" dirty="0">
                <a:latin typeface="Times New Roman" panose="02020603050405020304" pitchFamily="18" charset="0"/>
                <a:cs typeface="Times New Roman" panose="02020603050405020304" pitchFamily="18" charset="0"/>
              </a:rPr>
              <a:t>'[Hour] = 9)</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INFERENCE : </a:t>
            </a:r>
            <a:r>
              <a:rPr lang="en-US" sz="1800" dirty="0">
                <a:latin typeface="Times New Roman" panose="02020603050405020304" pitchFamily="18" charset="0"/>
                <a:cs typeface="Times New Roman" panose="02020603050405020304" pitchFamily="18" charset="0"/>
              </a:rPr>
              <a:t>At 9 AM, the average temperature of clear sky is 20.2 and</a:t>
            </a:r>
            <a:r>
              <a:rPr lang="en-US" sz="1800" b="1" dirty="0">
                <a:latin typeface="Times New Roman" panose="02020603050405020304" pitchFamily="18" charset="0"/>
                <a:cs typeface="Times New Roman" panose="02020603050405020304" pitchFamily="18" charset="0"/>
              </a:rPr>
              <a:t> higher </a:t>
            </a:r>
            <a:r>
              <a:rPr lang="en-US" sz="1800" dirty="0">
                <a:latin typeface="Times New Roman" panose="02020603050405020304" pitchFamily="18" charset="0"/>
                <a:cs typeface="Times New Roman" panose="02020603050405020304" pitchFamily="18" charset="0"/>
              </a:rPr>
              <a:t>than the broken clouds with 19.2.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endParaRPr lang="en-IN" sz="1800" dirty="0"/>
          </a:p>
        </p:txBody>
      </p:sp>
      <p:pic>
        <p:nvPicPr>
          <p:cNvPr id="6" name="Picture 5">
            <a:extLst>
              <a:ext uri="{FF2B5EF4-FFF2-40B4-BE49-F238E27FC236}">
                <a16:creationId xmlns:a16="http://schemas.microsoft.com/office/drawing/2014/main" id="{383EA80D-FC16-005D-117A-E5C0DC83FED7}"/>
              </a:ext>
            </a:extLst>
          </p:cNvPr>
          <p:cNvPicPr>
            <a:picLocks noChangeAspect="1"/>
          </p:cNvPicPr>
          <p:nvPr/>
        </p:nvPicPr>
        <p:blipFill>
          <a:blip r:embed="rId2"/>
          <a:stretch>
            <a:fillRect/>
          </a:stretch>
        </p:blipFill>
        <p:spPr>
          <a:xfrm>
            <a:off x="4125769" y="3531767"/>
            <a:ext cx="4311637" cy="2630829"/>
          </a:xfrm>
          <a:prstGeom prst="rect">
            <a:avLst/>
          </a:prstGeom>
        </p:spPr>
      </p:pic>
    </p:spTree>
    <p:extLst>
      <p:ext uri="{BB962C8B-B14F-4D97-AF65-F5344CB8AC3E}">
        <p14:creationId xmlns:p14="http://schemas.microsoft.com/office/powerpoint/2010/main" val="3910961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6F9A5-3233-3A90-3D1F-69F6D7AD7F57}"/>
              </a:ext>
            </a:extLst>
          </p:cNvPr>
          <p:cNvSpPr>
            <a:spLocks noGrp="1"/>
          </p:cNvSpPr>
          <p:nvPr>
            <p:ph type="title"/>
          </p:nvPr>
        </p:nvSpPr>
        <p:spPr>
          <a:xfrm>
            <a:off x="1381992" y="770673"/>
            <a:ext cx="9819408" cy="2154436"/>
          </a:xfrm>
        </p:spPr>
        <p:txBody>
          <a:bodyPr/>
          <a:lstStyle/>
          <a:p>
            <a:r>
              <a:rPr lang="en-US" sz="2000" dirty="0">
                <a:latin typeface="Times New Roman" panose="02020603050405020304" pitchFamily="18" charset="0"/>
                <a:cs typeface="Times New Roman" panose="02020603050405020304" pitchFamily="18" charset="0"/>
              </a:rPr>
              <a:t>17.Which weather type has the lowest average feels_like_t+1 temperature?</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AvgFeelsLikeT1 =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'[feels_like_t+1])</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 Fog</a:t>
            </a:r>
            <a:r>
              <a:rPr lang="en-US" sz="2000" dirty="0">
                <a:latin typeface="Times New Roman" panose="02020603050405020304" pitchFamily="18" charset="0"/>
                <a:cs typeface="Times New Roman" panose="02020603050405020304" pitchFamily="18" charset="0"/>
              </a:rPr>
              <a:t> has the lowest average feels like t+1 temperature with 14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degrees.</a:t>
            </a:r>
            <a:endParaRPr lang="en-IN" sz="2000" dirty="0"/>
          </a:p>
        </p:txBody>
      </p:sp>
      <p:pic>
        <p:nvPicPr>
          <p:cNvPr id="4" name="Picture 3">
            <a:extLst>
              <a:ext uri="{FF2B5EF4-FFF2-40B4-BE49-F238E27FC236}">
                <a16:creationId xmlns:a16="http://schemas.microsoft.com/office/drawing/2014/main" id="{D450C174-F5CB-80C9-3BF4-45D40A8D5240}"/>
              </a:ext>
            </a:extLst>
          </p:cNvPr>
          <p:cNvPicPr>
            <a:picLocks noChangeAspect="1"/>
          </p:cNvPicPr>
          <p:nvPr/>
        </p:nvPicPr>
        <p:blipFill>
          <a:blip r:embed="rId2"/>
          <a:stretch>
            <a:fillRect/>
          </a:stretch>
        </p:blipFill>
        <p:spPr>
          <a:xfrm>
            <a:off x="3745299" y="3316308"/>
            <a:ext cx="4578917" cy="2609004"/>
          </a:xfrm>
          <a:prstGeom prst="rect">
            <a:avLst/>
          </a:prstGeom>
        </p:spPr>
      </p:pic>
    </p:spTree>
    <p:extLst>
      <p:ext uri="{BB962C8B-B14F-4D97-AF65-F5344CB8AC3E}">
        <p14:creationId xmlns:p14="http://schemas.microsoft.com/office/powerpoint/2010/main" val="858078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C79A5-584B-B8B7-8CA2-915474B505D6}"/>
              </a:ext>
            </a:extLst>
          </p:cNvPr>
          <p:cNvSpPr>
            <a:spLocks noGrp="1"/>
          </p:cNvSpPr>
          <p:nvPr>
            <p:ph type="title"/>
          </p:nvPr>
        </p:nvSpPr>
        <p:spPr>
          <a:xfrm>
            <a:off x="1703291" y="659011"/>
            <a:ext cx="10964197" cy="2769989"/>
          </a:xfrm>
        </p:spPr>
        <p:txBody>
          <a:bodyPr/>
          <a:lstStyle/>
          <a:p>
            <a:r>
              <a:rPr lang="en-US" sz="2000" dirty="0">
                <a:latin typeface="Times New Roman" panose="02020603050405020304" pitchFamily="18" charset="0"/>
                <a:cs typeface="Times New Roman" panose="02020603050405020304" pitchFamily="18" charset="0"/>
              </a:rPr>
              <a:t>18.How does the frequency of ‘Clouds’ weather change over the months?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Month = MONTH('</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dt_iso</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CloudsCount</a:t>
            </a:r>
            <a:r>
              <a:rPr lang="en-US" sz="2000" dirty="0">
                <a:latin typeface="Times New Roman" panose="02020603050405020304" pitchFamily="18" charset="0"/>
                <a:cs typeface="Times New Roman" panose="02020603050405020304" pitchFamily="18" charset="0"/>
              </a:rPr>
              <a:t> =CALCULATE(    COUNTROWS('</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'[main] = "Clouds")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a:t>
            </a:r>
            <a:r>
              <a:rPr lang="en-US" sz="2000" dirty="0">
                <a:latin typeface="Times New Roman" panose="02020603050405020304" pitchFamily="18" charset="0"/>
                <a:cs typeface="Times New Roman" panose="02020603050405020304" pitchFamily="18" charset="0"/>
              </a:rPr>
              <a:t>The cloud count is comparatively</a:t>
            </a:r>
            <a:r>
              <a:rPr lang="en-US" sz="2000" b="1" dirty="0">
                <a:latin typeface="Times New Roman" panose="02020603050405020304" pitchFamily="18" charset="0"/>
                <a:cs typeface="Times New Roman" panose="02020603050405020304" pitchFamily="18" charset="0"/>
              </a:rPr>
              <a:t> higher </a:t>
            </a:r>
            <a:r>
              <a:rPr lang="en-US" sz="2000" dirty="0">
                <a:latin typeface="Times New Roman" panose="02020603050405020304" pitchFamily="18" charset="0"/>
                <a:cs typeface="Times New Roman" panose="02020603050405020304" pitchFamily="18" charset="0"/>
              </a:rPr>
              <a:t>in month 12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and the least in month 9 as it depends on the change of season .</a:t>
            </a:r>
            <a:endParaRPr lang="en-IN" sz="2000" dirty="0"/>
          </a:p>
        </p:txBody>
      </p:sp>
      <p:pic>
        <p:nvPicPr>
          <p:cNvPr id="4" name="Picture 3">
            <a:extLst>
              <a:ext uri="{FF2B5EF4-FFF2-40B4-BE49-F238E27FC236}">
                <a16:creationId xmlns:a16="http://schemas.microsoft.com/office/drawing/2014/main" id="{3E11FE0E-D9D1-2B34-E8C6-72A8E97DC658}"/>
              </a:ext>
            </a:extLst>
          </p:cNvPr>
          <p:cNvPicPr>
            <a:picLocks noChangeAspect="1"/>
          </p:cNvPicPr>
          <p:nvPr/>
        </p:nvPicPr>
        <p:blipFill>
          <a:blip r:embed="rId2"/>
          <a:stretch>
            <a:fillRect/>
          </a:stretch>
        </p:blipFill>
        <p:spPr>
          <a:xfrm>
            <a:off x="4521336" y="3639333"/>
            <a:ext cx="3123048" cy="2791295"/>
          </a:xfrm>
          <a:prstGeom prst="rect">
            <a:avLst/>
          </a:prstGeom>
        </p:spPr>
      </p:pic>
    </p:spTree>
    <p:extLst>
      <p:ext uri="{BB962C8B-B14F-4D97-AF65-F5344CB8AC3E}">
        <p14:creationId xmlns:p14="http://schemas.microsoft.com/office/powerpoint/2010/main" val="3100126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C8B457-F900-323D-EC8F-3167F90C4CFF}"/>
              </a:ext>
            </a:extLst>
          </p:cNvPr>
          <p:cNvSpPr txBox="1">
            <a:spLocks/>
          </p:cNvSpPr>
          <p:nvPr/>
        </p:nvSpPr>
        <p:spPr>
          <a:xfrm>
            <a:off x="1400928" y="480974"/>
            <a:ext cx="9999112" cy="492442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19. Is ‘clear sky’ more common in any specific quarter?</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DAX QUERY : </a:t>
            </a:r>
          </a:p>
          <a:p>
            <a:r>
              <a:rPr lang="en-US" sz="2000" dirty="0">
                <a:latin typeface="Times New Roman" panose="02020603050405020304" pitchFamily="18" charset="0"/>
                <a:cs typeface="Times New Roman" panose="02020603050405020304" pitchFamily="18" charset="0"/>
              </a:rPr>
              <a:t>Quarter = QUARTER('</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dt_iso</a:t>
            </a:r>
            <a:r>
              <a:rPr lang="en-US" sz="2000" dirty="0">
                <a:latin typeface="Times New Roman" panose="02020603050405020304" pitchFamily="18" charset="0"/>
                <a:cs typeface="Times New Roman" panose="02020603050405020304" pitchFamily="18" charset="0"/>
              </a:rPr>
              <a:t>])</a:t>
            </a:r>
          </a:p>
          <a:p>
            <a:r>
              <a:rPr lang="en-US" sz="2000" dirty="0" err="1">
                <a:latin typeface="Times New Roman" panose="02020603050405020304" pitchFamily="18" charset="0"/>
                <a:cs typeface="Times New Roman" panose="02020603050405020304" pitchFamily="18" charset="0"/>
              </a:rPr>
              <a:t>ClearSkyCount</a:t>
            </a:r>
            <a:r>
              <a:rPr lang="en-US" sz="2000" dirty="0">
                <a:latin typeface="Times New Roman" panose="02020603050405020304" pitchFamily="18" charset="0"/>
                <a:cs typeface="Times New Roman" panose="02020603050405020304" pitchFamily="18" charset="0"/>
              </a:rPr>
              <a:t> = CALCULATE(COUNTROWS('</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'[description] = </a:t>
            </a:r>
          </a:p>
          <a:p>
            <a:r>
              <a:rPr lang="en-US" sz="2000" dirty="0">
                <a:latin typeface="Times New Roman" panose="02020603050405020304" pitchFamily="18" charset="0"/>
                <a:cs typeface="Times New Roman" panose="02020603050405020304" pitchFamily="18" charset="0"/>
              </a:rPr>
              <a:t>"clear sky")</a:t>
            </a:r>
          </a:p>
          <a:p>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a:t>
            </a:r>
            <a:r>
              <a:rPr lang="en-US" sz="2000" dirty="0">
                <a:latin typeface="Times New Roman" panose="02020603050405020304" pitchFamily="18" charset="0"/>
                <a:cs typeface="Times New Roman" panose="02020603050405020304" pitchFamily="18" charset="0"/>
              </a:rPr>
              <a:t>The ‘clear sky’ is most common in quarter 4 with 87K and least in quarter 2 with 55K .</a:t>
            </a:r>
            <a:endParaRPr lang="en-IN" sz="2000" dirty="0"/>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IN" sz="2000" dirty="0"/>
          </a:p>
        </p:txBody>
      </p:sp>
      <p:pic>
        <p:nvPicPr>
          <p:cNvPr id="6" name="Picture 5">
            <a:extLst>
              <a:ext uri="{FF2B5EF4-FFF2-40B4-BE49-F238E27FC236}">
                <a16:creationId xmlns:a16="http://schemas.microsoft.com/office/drawing/2014/main" id="{32A438B2-C259-E181-AB2C-75AD16C41552}"/>
              </a:ext>
            </a:extLst>
          </p:cNvPr>
          <p:cNvPicPr>
            <a:picLocks noChangeAspect="1"/>
          </p:cNvPicPr>
          <p:nvPr/>
        </p:nvPicPr>
        <p:blipFill>
          <a:blip r:embed="rId2"/>
          <a:stretch>
            <a:fillRect/>
          </a:stretch>
        </p:blipFill>
        <p:spPr>
          <a:xfrm>
            <a:off x="4541984" y="4057117"/>
            <a:ext cx="2667372" cy="2457793"/>
          </a:xfrm>
          <a:prstGeom prst="rect">
            <a:avLst/>
          </a:prstGeom>
        </p:spPr>
      </p:pic>
    </p:spTree>
    <p:extLst>
      <p:ext uri="{BB962C8B-B14F-4D97-AF65-F5344CB8AC3E}">
        <p14:creationId xmlns:p14="http://schemas.microsoft.com/office/powerpoint/2010/main" val="1750823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E4676-7913-CE28-4E9B-E1B95BC4E311}"/>
              </a:ext>
            </a:extLst>
          </p:cNvPr>
          <p:cNvSpPr>
            <a:spLocks noGrp="1"/>
          </p:cNvSpPr>
          <p:nvPr>
            <p:ph type="title"/>
          </p:nvPr>
        </p:nvSpPr>
        <p:spPr>
          <a:xfrm>
            <a:off x="1091044" y="1030445"/>
            <a:ext cx="10119499" cy="2462213"/>
          </a:xfrm>
        </p:spPr>
        <p:txBody>
          <a:bodyPr/>
          <a:lstStyle/>
          <a:p>
            <a:r>
              <a:rPr lang="en-US" sz="2000" dirty="0">
                <a:latin typeface="Times New Roman" panose="02020603050405020304" pitchFamily="18" charset="0"/>
                <a:cs typeface="Times New Roman" panose="02020603050405020304" pitchFamily="18" charset="0"/>
              </a:rPr>
              <a:t>20 .Are rainy days more humid than clear days?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DAX QUERY : </a:t>
            </a:r>
            <a:r>
              <a:rPr lang="en-US" sz="2000" dirty="0" err="1">
                <a:latin typeface="Times New Roman" panose="02020603050405020304" pitchFamily="18" charset="0"/>
                <a:cs typeface="Times New Roman" panose="02020603050405020304" pitchFamily="18" charset="0"/>
              </a:rPr>
              <a:t>AvgHumidityByWeather</a:t>
            </a:r>
            <a:r>
              <a:rPr lang="en-US" sz="2000" dirty="0">
                <a:latin typeface="Times New Roman" panose="02020603050405020304" pitchFamily="18" charset="0"/>
                <a:cs typeface="Times New Roman" panose="02020603050405020304" pitchFamily="18" charset="0"/>
              </a:rPr>
              <a:t> = AVERAGE('</a:t>
            </a:r>
            <a:r>
              <a:rPr lang="en-US" sz="2000" dirty="0" err="1">
                <a:latin typeface="Times New Roman" panose="02020603050405020304" pitchFamily="18" charset="0"/>
                <a:cs typeface="Times New Roman" panose="02020603050405020304" pitchFamily="18" charset="0"/>
              </a:rPr>
              <a:t>energy_weather_raw_data</a:t>
            </a:r>
            <a:r>
              <a:rPr lang="en-US" sz="2000" dirty="0">
                <a:latin typeface="Times New Roman" panose="02020603050405020304" pitchFamily="18" charset="0"/>
                <a:cs typeface="Times New Roman" panose="02020603050405020304" pitchFamily="18" charset="0"/>
              </a:rPr>
              <a:t>'[humidity])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INFERENCE :</a:t>
            </a:r>
            <a:r>
              <a:rPr lang="en-US" sz="2000" dirty="0">
                <a:latin typeface="Times New Roman" panose="02020603050405020304" pitchFamily="18" charset="0"/>
                <a:cs typeface="Times New Roman" panose="02020603050405020304" pitchFamily="18" charset="0"/>
              </a:rPr>
              <a:t>The increase of humidity in Rainy days is </a:t>
            </a:r>
            <a:r>
              <a:rPr lang="en-US" sz="2000" b="1" dirty="0">
                <a:latin typeface="Times New Roman" panose="02020603050405020304" pitchFamily="18" charset="0"/>
                <a:cs typeface="Times New Roman" panose="02020603050405020304" pitchFamily="18" charset="0"/>
              </a:rPr>
              <a:t>higher </a:t>
            </a:r>
            <a:r>
              <a:rPr lang="en-US" sz="2000" dirty="0">
                <a:latin typeface="Times New Roman" panose="02020603050405020304" pitchFamily="18" charset="0"/>
                <a:cs typeface="Times New Roman" panose="02020603050405020304" pitchFamily="18" charset="0"/>
              </a:rPr>
              <a:t>than clear days where rainy day’s humidity and clear day’s humidity ratio is 47:42.</a:t>
            </a:r>
            <a:br>
              <a:rPr lang="en-IN" sz="2000" dirty="0"/>
            </a:br>
            <a:br>
              <a:rPr lang="en-US" sz="2000" dirty="0">
                <a:latin typeface="Times New Roman" panose="02020603050405020304" pitchFamily="18" charset="0"/>
                <a:cs typeface="Times New Roman" panose="02020603050405020304" pitchFamily="18" charset="0"/>
              </a:rPr>
            </a:br>
            <a:endParaRPr lang="en-IN" sz="2000" dirty="0"/>
          </a:p>
        </p:txBody>
      </p:sp>
      <p:pic>
        <p:nvPicPr>
          <p:cNvPr id="4" name="Picture 3">
            <a:extLst>
              <a:ext uri="{FF2B5EF4-FFF2-40B4-BE49-F238E27FC236}">
                <a16:creationId xmlns:a16="http://schemas.microsoft.com/office/drawing/2014/main" id="{3C955349-FA77-50C6-9BB2-9ED5A9705B22}"/>
              </a:ext>
            </a:extLst>
          </p:cNvPr>
          <p:cNvPicPr>
            <a:picLocks noChangeAspect="1"/>
          </p:cNvPicPr>
          <p:nvPr/>
        </p:nvPicPr>
        <p:blipFill>
          <a:blip r:embed="rId2"/>
          <a:stretch>
            <a:fillRect/>
          </a:stretch>
        </p:blipFill>
        <p:spPr>
          <a:xfrm>
            <a:off x="3716495" y="3339386"/>
            <a:ext cx="4540537" cy="2837835"/>
          </a:xfrm>
          <a:prstGeom prst="rect">
            <a:avLst/>
          </a:prstGeom>
        </p:spPr>
      </p:pic>
    </p:spTree>
    <p:extLst>
      <p:ext uri="{BB962C8B-B14F-4D97-AF65-F5344CB8AC3E}">
        <p14:creationId xmlns:p14="http://schemas.microsoft.com/office/powerpoint/2010/main" val="1824983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8F74-649D-30BC-8D2A-DD1283A37006}"/>
              </a:ext>
            </a:extLst>
          </p:cNvPr>
          <p:cNvSpPr>
            <a:spLocks noGrp="1"/>
          </p:cNvSpPr>
          <p:nvPr>
            <p:ph type="title"/>
          </p:nvPr>
        </p:nvSpPr>
        <p:spPr>
          <a:xfrm>
            <a:off x="3313850" y="459615"/>
            <a:ext cx="7842983" cy="553998"/>
          </a:xfrm>
        </p:spPr>
        <p:txBody>
          <a:bodyPr/>
          <a:lstStyle/>
          <a:p>
            <a:r>
              <a:rPr lang="en-US" sz="3600" dirty="0"/>
              <a:t>PUBLISHED DASHBOARD </a:t>
            </a:r>
            <a:endParaRPr lang="en-IN" sz="3600" dirty="0"/>
          </a:p>
        </p:txBody>
      </p:sp>
      <p:sp>
        <p:nvSpPr>
          <p:cNvPr id="4" name="TextBox 3">
            <a:extLst>
              <a:ext uri="{FF2B5EF4-FFF2-40B4-BE49-F238E27FC236}">
                <a16:creationId xmlns:a16="http://schemas.microsoft.com/office/drawing/2014/main" id="{5D303DE8-D1B0-63BF-03AB-7A6CA512CF65}"/>
              </a:ext>
            </a:extLst>
          </p:cNvPr>
          <p:cNvSpPr txBox="1"/>
          <p:nvPr/>
        </p:nvSpPr>
        <p:spPr>
          <a:xfrm>
            <a:off x="1494503" y="1415845"/>
            <a:ext cx="9881420" cy="307777"/>
          </a:xfrm>
          <a:prstGeom prst="rect">
            <a:avLst/>
          </a:prstGeom>
          <a:noFill/>
        </p:spPr>
        <p:txBody>
          <a:bodyPr wrap="square" rtlCol="0">
            <a:spAutoFit/>
          </a:bodyPr>
          <a:lstStyle/>
          <a:p>
            <a:r>
              <a:rPr lang="en-IN" dirty="0">
                <a:hlinkClick r:id="rId2"/>
              </a:rPr>
              <a:t>https://app.powerbi.com/groups/me/dashboards/5e1b9584-a7c7-4c4f-91f0-4819ca59da6c?experience=power-bi</a:t>
            </a:r>
            <a:endParaRPr lang="en-IN" dirty="0"/>
          </a:p>
        </p:txBody>
      </p:sp>
      <p:pic>
        <p:nvPicPr>
          <p:cNvPr id="10" name="Picture 9">
            <a:extLst>
              <a:ext uri="{FF2B5EF4-FFF2-40B4-BE49-F238E27FC236}">
                <a16:creationId xmlns:a16="http://schemas.microsoft.com/office/drawing/2014/main" id="{FB737183-B82B-37DA-2100-1E0963EC1D54}"/>
              </a:ext>
            </a:extLst>
          </p:cNvPr>
          <p:cNvPicPr>
            <a:picLocks noChangeAspect="1"/>
          </p:cNvPicPr>
          <p:nvPr/>
        </p:nvPicPr>
        <p:blipFill>
          <a:blip r:embed="rId3"/>
          <a:stretch>
            <a:fillRect/>
          </a:stretch>
        </p:blipFill>
        <p:spPr>
          <a:xfrm>
            <a:off x="1632154" y="2047844"/>
            <a:ext cx="8426245" cy="4181445"/>
          </a:xfrm>
          <a:prstGeom prst="rect">
            <a:avLst/>
          </a:prstGeom>
        </p:spPr>
      </p:pic>
    </p:spTree>
    <p:extLst>
      <p:ext uri="{BB962C8B-B14F-4D97-AF65-F5344CB8AC3E}">
        <p14:creationId xmlns:p14="http://schemas.microsoft.com/office/powerpoint/2010/main" val="3470714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183A-AB3A-9998-8AF3-75EDA1B1C1E6}"/>
              </a:ext>
            </a:extLst>
          </p:cNvPr>
          <p:cNvSpPr>
            <a:spLocks noGrp="1"/>
          </p:cNvSpPr>
          <p:nvPr>
            <p:ph type="title"/>
          </p:nvPr>
        </p:nvSpPr>
        <p:spPr>
          <a:xfrm>
            <a:off x="3513274" y="632815"/>
            <a:ext cx="6613950" cy="492443"/>
          </a:xfrm>
        </p:spPr>
        <p:txBody>
          <a:bodyPr/>
          <a:lstStyle/>
          <a:p>
            <a:r>
              <a:rPr lang="en-US" sz="3200" b="1" dirty="0">
                <a:latin typeface="Times New Roman" panose="02020603050405020304" pitchFamily="18" charset="0"/>
                <a:cs typeface="Times New Roman" panose="02020603050405020304" pitchFamily="18" charset="0"/>
              </a:rPr>
              <a:t>PUBLISHED DASHBOARD </a:t>
            </a:r>
            <a:endParaRPr lang="en-IN" sz="32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7F3F9227-2802-5B89-4527-6DDAF6BEA97A}"/>
              </a:ext>
            </a:extLst>
          </p:cNvPr>
          <p:cNvPicPr>
            <a:picLocks noChangeAspect="1"/>
          </p:cNvPicPr>
          <p:nvPr/>
        </p:nvPicPr>
        <p:blipFill>
          <a:blip r:embed="rId2"/>
          <a:stretch>
            <a:fillRect/>
          </a:stretch>
        </p:blipFill>
        <p:spPr>
          <a:xfrm>
            <a:off x="1506497" y="1423251"/>
            <a:ext cx="9527782" cy="4661000"/>
          </a:xfrm>
          <a:prstGeom prst="rect">
            <a:avLst/>
          </a:prstGeom>
        </p:spPr>
      </p:pic>
    </p:spTree>
    <p:extLst>
      <p:ext uri="{BB962C8B-B14F-4D97-AF65-F5344CB8AC3E}">
        <p14:creationId xmlns:p14="http://schemas.microsoft.com/office/powerpoint/2010/main" val="79817144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3212</TotalTime>
  <Words>2040</Words>
  <Application>Microsoft Office PowerPoint</Application>
  <PresentationFormat>Widescreen</PresentationFormat>
  <Paragraphs>50</Paragraphs>
  <Slides>28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DATASET LINK</vt:lpstr>
      <vt:lpstr>DATA DESCRIPTION AND PREPROCESSING DONE  </vt:lpstr>
      <vt:lpstr>DATA TRANSFORMATION</vt:lpstr>
      <vt:lpstr>DATA DESCRIPTION AFTER PROCESSING</vt:lpstr>
      <vt:lpstr>QUESTIONS THAT CAN BE FRAMED</vt:lpstr>
      <vt:lpstr>11.What is the most frequent weather condition based on the ‘main’ column? 12.What is the most common sky condition based on the ‘description’ column? 13.How often do extreme weather events like thunderstorms and heavy rain occur? 14.How does temp_max vary between ‘Clear’ and ‘Clouds’ conditions? 15.Is humidity higher during ‘Mist’, ‘Fog’, or ‘Haze’ conditions? 16.How do clear sky and broken clouds temperatures compare at 9 AM? 17.Which weather type has the lowest average feels_like_t+1 temperature? 18.How does the frequency of ‘Clouds’ weather change over the months? 19. Is ‘clear sky’ more common in any specific quarter? 20 .Are rainy days more humid than clear days?    </vt:lpstr>
      <vt:lpstr>1. Compare voltage levels across different  months when humidity is above 80%.  DAX QUERY :  AvgActivePower_HighHumidity =CALCULATE(    AVERAGE(energy_weather_raw_data[active_power]),    FILTER(energy_weather_raw_data, energy_weather_raw_data[humidity] &gt; 80))  INFERENCE : The sum of Average active power with respect to humidity is 140.83M. </vt:lpstr>
      <vt:lpstr>2. Analyze the change in apparent power between weekends and weekdays when wind speed exceeds 10 m/s. DAX QUERY :  IsWeekend =IF(WEEKDAY(energy_weather_raw_data[date], 2) &gt;= 6,  "Weekend", "Weekday")AvgTemp_Week =AVERAGE( energy_weather_raw_data[temp])  INFERENCE : The change in apparent power between weekends and weekdays when wind speed exceeds 10 m/s where temperature is comparatively higher in Weekday than Weekend.</vt:lpstr>
      <vt:lpstr>3. Find the top 10 days with the highest apparent power when the pressure is below 1000 hPa.  DAX QUERY :  MonthName =FORMAT(energy_weather_raw_data[date], "MMMM") AvgApparentPower =AVERAGE(energy_weather_raw_data[apparent_power])  INFERENCE : The top 10 days with the highest apparent power when the  pressure is below 1000 hPa is in Month JULY. </vt:lpstr>
      <vt:lpstr>4. What is the difference in average apparent power on holidays vs working days when  humidity is above 60%?  DAX QUERY : DayOfWeek =FORMAT ( 'energy_weather_raw_data'[date], "dddd" ) AvgHumidityByDay =AVERAGE ( 'energy_weather_raw_data'[humidity] )  INFERENCE : The difference in average apparent power on holidays vs working days when  humidity is above 60% is highest in RAIN and lowest in FOG . </vt:lpstr>
      <vt:lpstr>5. What is the correlation between pressure and reactive power during early mornings (0–6 AM)   DAX QUERY : MaxVoltageDay =CALCULATE(    MAX(energy_weather_raw_data[voltage]),    ALLEXCEPT(energy_weather_raw_data, energy_weather_raw_data[date]))  INFERENCE : The correlation between pressure and reactive power during early mornings is stable  Throughout the weekdays.</vt:lpstr>
      <vt:lpstr>6. What is the average humidity at different times of the day?  DAX QUERY : Avg_Humid = AVERAGE(WeatherData[Humidity])  INFERENCE : The average humidity is higher at night times and lower in Afternoon times. </vt:lpstr>
      <vt:lpstr>7. Identify time slots (hour ranges) with low voltage (&lt; 110V) during hot and humid days(temp &gt;  32 C , humidity &gt;75%).  DAX QUERY : AvgTempByPressure =AVERAGE (  'energy_weather_raw_data'[temperature] )  INFERENCE : On hot and humid days (Temp &gt; 32°C,Humidity &gt; 75%), the low voltage (&lt;110V) occurs mainly in afternoon to evening slots (1 PM – 7 PM), indicating peak load stress during high demand hours. </vt:lpstr>
      <vt:lpstr>8. How does power factor change on days with both low wind speed(speed&lt;3) and low atmospheric pressure(pressure&lt;1000) ?  DAX QUERY : AvgPowerFactorPerDay =AVERAGE(energy_weather_raw_data [power_factor])  INFERENCE : During periods of low wind speed (&lt;3) and low atmospheric pressure (&lt;1000), the power factor remains fairly stable (~0.85–0.86), showing no major deterioration. This suggests that power quality is not significantly impacted by these weather conditions.</vt:lpstr>
      <vt:lpstr>PowerPoint Presentation</vt:lpstr>
      <vt:lpstr>10. How does the average atmospheric pressure vary across different weather conditions?  DAX QUERY : WeatherType =IF(energy_weather_raw_data[main] =  "Rain", "Rainy",IF(energy_weather_raw_data[main] =  "Clear", "Clear", "Other"))AvgPressure =AVERAGE(energy_weather_raw_data[pressure])  INFERENCE : Average pressure is highest during rainy weather, moderate in other conditions, and lowest during clear weather. </vt:lpstr>
      <vt:lpstr>11.What is the most frequent weather condition based on the ‘main’ column?  DAX QUERY :  WeatherConditionCount = COUNTROWS('energy_weather_raw_data’)  INFERENCE : The most frequent weather condition based in ‘main’ column is clouds with around 0.29M data.          </vt:lpstr>
      <vt:lpstr>12.What is the most common sky condition based on the ‘description’ column?  DAX QUERY :  SkyConditionCount = COUNTROWS('energy_weather_raw_data’)  INFERENCE : The most common sky condition based on ‘description’ column is clear sky. </vt:lpstr>
      <vt:lpstr>13.How often do extreme weather events like thunderstorms and heavy rain occur?  DAX QUERY : ExtremeWeatherCount = CALCULATE(    COUNTROWS('energy_weather_raw_data'),    'energy_weather_raw_data'[main] IN {"Thunderstorm", "Rain"},    SEARCH("heavy", 'energy_weather_raw_data'[description], 1, 0) &gt; 0)        </vt:lpstr>
      <vt:lpstr>14.How does temp_max vary between ‘Clear’ and ‘Clouds’ conditions?  DAX QUERY :  AvgTempMax = AVERAGE('energy_weather_raw_data'[temp_max])  INFERENCE : The temp_max is comparatively higher in clear condition than clouds condition </vt:lpstr>
      <vt:lpstr>15.Is humidity higher during ‘Mist’,‘Fog’, or ‘Haze’ conditions?  DAX QUERY :  AvgHumidity = AVERAGE('energy_weather_raw_data'[humidity])  INFERENCE :  The humidity is higher during Fog condition than Mist and Haze.</vt:lpstr>
      <vt:lpstr>16.How do clear sky and broken clouds temperatures compare at 9 AM?  DAX QUERY :  Hour = HOUR('energy_weather_raw_data'[dt_iso]) AvgTempAt9AM = CALCULATE(    AVERAGE('energy_weather_raw_data'[temp]),     'energy_weather_raw_data'[Hour] = 9)  INFERENCE : At 9 AM, the average temperature of clear sky is 20.2 and higher than the broken clouds with 19.2.   </vt:lpstr>
      <vt:lpstr>17.Which weather type has the lowest average feels_like_t+1 temperature?  DAX QUERY :  AvgFeelsLikeT1 = AVERAGE('energy_weather_raw_data'[feels_like_t+1])  INFERENCE : Fog has the lowest average feels like t+1 temperature with 14  degrees.</vt:lpstr>
      <vt:lpstr>18.How does the frequency of ‘Clouds’ weather change over the months?  DAX QUERY :  Month = MONTH('energy_weather_raw_data'[dt_iso]) CloudsCount =CALCULATE(    COUNTROWS('energy_weather_raw_data'),     'energy_weather_raw_data'[main] = "Clouds")  INFERENCE :The cloud count is comparatively higher in month 12  and the least in month 9 as it depends on the change of season .</vt:lpstr>
      <vt:lpstr>PowerPoint Presentation</vt:lpstr>
      <vt:lpstr>20 .Are rainy days more humid than clear days?  DAX QUERY : AvgHumidityByWeather = AVERAGE('energy_weather_raw_data'[humidity])  INFERENCE :The increase of humidity in Rainy days is higher than clear days where rainy day’s humidity and clear day’s humidity ratio is 47:42.  </vt:lpstr>
      <vt:lpstr>PUBLISHED DASHBOARD </vt:lpstr>
      <vt:lpstr>PUBLISHED DASHBOARD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Gokul Senthilkumar</dc:creator>
  <cp:lastModifiedBy>Rithika K</cp:lastModifiedBy>
  <cp:revision>73</cp:revision>
  <dcterms:created xsi:type="dcterms:W3CDTF">2023-02-03T06:11:18Z</dcterms:created>
  <dcterms:modified xsi:type="dcterms:W3CDTF">2026-10-28T07:12:34Z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CCA21B7555E24D3FB40348EB3CE2AD24</vt:lpwstr>
  </property>
  <property fmtid="{D5CDD505-2E9C-101B-9397-08002B2CF9AE}" pid="4" name="KSOProductBuildVer">
    <vt:lpwstr>1033-11.2.0.11440</vt:lpwstr>
  </property>
</Properties>
</file>